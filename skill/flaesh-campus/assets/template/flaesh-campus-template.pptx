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Title (cover). Episode number, title, subtitle; presenter name, credentials (two lines) and portrait in the glowing circle. The video circle is not reserved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Chapter (chapter). Big chapter number, chapter name from the episode, one sentence. Long names wrap to two lines; the sentence moves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Hook (hook). Opening quote or question, ‘The hard truth’ card and ‘The fläsh answer’ card. Labels can be changed per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Closing (closing). One to three next steps with title and text, plus the ‘Up next’ card for the following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Points (points). The standard slide: 2–4 points, each with a short lead and an explanation of about 14 words. Optional focus box on the right (points then narrow to 900 px).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Points + Photo (points_photo). 2–4 points plus photo (2:1) with caption. Without a photo file, a placeholder with the photo brief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Points + Chart (points_chart). 2–4 points plus a bar card (2–4 bars, values 0–100, one bar highlighted) with an optional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Statement (statement). One big number or keyword, a statement line and a short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Checklist (checklist). Up to 7 numbered items, optional focus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Steps (steps). 3–5 numbered steps with title and text (grid 3, 2+2 or 3+2).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Compare (compare). Two columns, 1–4 items each, rows aligned. Style myth_fact (fact side highlighted) or do_dont (do side highlighted).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Scale (scale). A scale of 2–16 chips (e.g. shade guide, optional highlight) or a timeline of 2–6 points, optional caption, 1–2 points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Summary (summary). Up to 5 items with check mark, title and text (two columns).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Photo (photo). Full-bleed photo right of the rail, kicker, title and caption in a dark band. The video circle stays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Before / After (before_after). Two photos (3:2) with labels, e.g. the shade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Photo Annotated (photo_annotated). Photo with up to 5 numbered markers (x/y from 0 to 1) and a legend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Case (case). Case story (up to three lines) and up to 5 findings, each with its cause in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Quiz (quiz). Question with three answers; the build adds the answer slide with the highlighted option and the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barrier covered the cervical enamel — the gel never touched it. Re-isolate correctly, then apply fresh 1 mm gel.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Title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bg"/>
          <p:cNvSpPr/>
          <p:nvPr/>
        </p:nvSpPr>
        <p:spPr>
          <a:xfrm>
            <a:off x="4864100" y="-1397000"/>
            <a:ext cx="9652000" cy="9652000"/>
          </a:xfrm>
          <a:prstGeom prst="ellipse">
            <a:avLst/>
          </a:prstGeom>
          <a:gradFill rotWithShape="1">
            <a:gsLst>
              <a:gs pos="0">
                <a:srgbClr val="00A5FF">
                  <a:alpha val="34000"/>
                </a:srgbClr>
              </a:gs>
              <a:gs pos="50000">
                <a:srgbClr val="00A5FF">
                  <a:alpha val="10000"/>
                </a:srgbClr>
              </a:gs>
              <a:gs pos="100000">
                <a:srgbClr val="00A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-1"/>
          <p:cNvSpPr/>
          <p:nvPr/>
        </p:nvSpPr>
        <p:spPr>
          <a:xfrm>
            <a:off x="7150100" y="889000"/>
            <a:ext cx="5080000" cy="5080000"/>
          </a:xfrm>
          <a:prstGeom prst="ellipse">
            <a:avLst/>
          </a:prstGeom>
          <a:noFill/>
          <a:ln w="12700">
            <a:solidFill>
              <a:srgbClr val="00A5FF">
                <a:alpha val="2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-2"/>
          <p:cNvSpPr/>
          <p:nvPr/>
        </p:nvSpPr>
        <p:spPr>
          <a:xfrm>
            <a:off x="6578600" y="317500"/>
            <a:ext cx="6223000" cy="6223000"/>
          </a:xfrm>
          <a:prstGeom prst="ellipse">
            <a:avLst/>
          </a:prstGeom>
          <a:noFill/>
          <a:ln w="12700">
            <a:solidFill>
              <a:srgbClr val="00A5FF">
                <a:alpha val="14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7" name="cover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609600"/>
            <a:ext cx="1270000" cy="539750"/>
          </a:xfrm>
          <a:prstGeom prst="rect">
            <a:avLst/>
          </a:prstGeom>
        </p:spPr>
      </p:pic>
      <p:sp>
        <p:nvSpPr>
          <p:cNvPr id="8" name="cover-campus"/>
          <p:cNvSpPr txBox="1"/>
          <p:nvPr/>
        </p:nvSpPr>
        <p:spPr>
          <a:xfrm>
            <a:off x="2870200" y="685800"/>
            <a:ext cx="2032000" cy="508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2900" b="0" i="0">
                <a:solidFill>
                  <a:srgbClr val="00A5FF"/>
                </a:solidFill>
                <a:latin typeface="Corporate S"/>
              </a:rPr>
              <a:t>Campus</a:t>
            </a:r>
          </a:p>
        </p:txBody>
      </p:sp>
      <p:sp>
        <p:nvSpPr>
          <p:cNvPr id="9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" name="Kicker"/>
          <p:cNvSpPr>
            <a:spLocks noGrp="1"/>
          </p:cNvSpPr>
          <p:nvPr>
            <p:ph type="body" idx="11" hasCustomPrompt="1"/>
          </p:nvPr>
        </p:nvSpPr>
        <p:spPr>
          <a:xfrm>
            <a:off x="1460500" y="2260600"/>
            <a:ext cx="622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Online Training · Episode 00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 hasCustomPrompt="1"/>
          </p:nvPr>
        </p:nvSpPr>
        <p:spPr>
          <a:xfrm>
            <a:off x="1435100" y="2565400"/>
            <a:ext cx="6096000" cy="146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2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Episode title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2" hasCustomPrompt="1"/>
          </p:nvPr>
        </p:nvSpPr>
        <p:spPr>
          <a:xfrm>
            <a:off x="1460500" y="4152900"/>
            <a:ext cx="5207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Subtitle of the episode</a:t>
            </a:r>
          </a:p>
        </p:txBody>
      </p:sp>
      <p:sp>
        <p:nvSpPr>
          <p:cNvPr id="13" name="Presenter"/>
          <p:cNvSpPr>
            <a:spLocks noGrp="1"/>
          </p:cNvSpPr>
          <p:nvPr>
            <p:ph type="body" idx="13" hasCustomPrompt="1"/>
          </p:nvPr>
        </p:nvSpPr>
        <p:spPr>
          <a:xfrm>
            <a:off x="1460500" y="55626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Dr. Germán Gómez</a:t>
            </a:r>
          </a:p>
        </p:txBody>
      </p:sp>
      <p:sp>
        <p:nvSpPr>
          <p:cNvPr id="14" name="Credentials"/>
          <p:cNvSpPr>
            <a:spLocks noGrp="1"/>
          </p:cNvSpPr>
          <p:nvPr>
            <p:ph type="body" idx="14" hasCustomPrompt="1"/>
          </p:nvPr>
        </p:nvSpPr>
        <p:spPr>
          <a:xfrm>
            <a:off x="1460500" y="59055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ABB7BE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Credentials</a:t>
            </a:r>
          </a:p>
        </p:txBody>
      </p:sp>
      <p:sp>
        <p:nvSpPr>
          <p:cNvPr id="15" name="Photo"/>
          <p:cNvSpPr>
            <a:spLocks noGrp="1"/>
          </p:cNvSpPr>
          <p:nvPr>
            <p:ph type="pic" idx="15" hasCustomPrompt="1"/>
          </p:nvPr>
        </p:nvSpPr>
        <p:spPr>
          <a:xfrm>
            <a:off x="7848600" y="1587500"/>
            <a:ext cx="3683000" cy="3683000"/>
          </a:xfrm>
          <a:prstGeom prst="ellipse">
            <a:avLst/>
          </a:prstGeom>
          <a:solidFill>
            <a:srgbClr val="DEE7EC"/>
          </a:solidFill>
          <a:ln w="38100">
            <a:solidFill>
              <a:srgbClr val="00A5FF"/>
            </a:solidFill>
          </a:ln>
          <a:effectLst>
            <a:glow rad="571500">
              <a:srgbClr val="00A5FF">
                <a:alpha val="60000"/>
              </a:srgbClr>
            </a:glow>
          </a:effectLst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portrait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Chapter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bg"/>
          <p:cNvSpPr/>
          <p:nvPr/>
        </p:nvSpPr>
        <p:spPr>
          <a:xfrm>
            <a:off x="-381000" y="-1270000"/>
            <a:ext cx="7874000" cy="7874000"/>
          </a:xfrm>
          <a:prstGeom prst="ellipse">
            <a:avLst/>
          </a:prstGeom>
          <a:gradFill rotWithShape="1">
            <a:gsLst>
              <a:gs pos="0">
                <a:srgbClr val="00A5FF">
                  <a:alpha val="26000"/>
                </a:srgbClr>
              </a:gs>
              <a:gs pos="50000">
                <a:srgbClr val="00A5FF">
                  <a:alpha val="8000"/>
                </a:srgbClr>
              </a:gs>
              <a:gs pos="100000">
                <a:srgbClr val="00A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5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6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7" name="Number"/>
          <p:cNvSpPr>
            <a:spLocks noGrp="1"/>
          </p:cNvSpPr>
          <p:nvPr>
            <p:ph type="body" idx="16" hasCustomPrompt="1"/>
          </p:nvPr>
        </p:nvSpPr>
        <p:spPr>
          <a:xfrm>
            <a:off x="1460500" y="127000"/>
            <a:ext cx="3556000" cy="55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0000" b="0" i="0">
                <a:solidFill>
                  <a:srgbClr val="00A5FF"/>
                </a:solidFill>
                <a:effectLst>
                  <a:glow rad="508000">
                    <a:srgbClr val="00A5FF">
                      <a:alpha val="65000"/>
                    </a:srgbClr>
                  </a:glow>
                </a:effectLst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5080000" y="20955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of 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5029200" y="2387600"/>
            <a:ext cx="635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5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Chapter</a:t>
            </a:r>
          </a:p>
        </p:txBody>
      </p:sp>
      <p:sp>
        <p:nvSpPr>
          <p:cNvPr id="10" name="Line"/>
          <p:cNvSpPr>
            <a:spLocks noGrp="1"/>
          </p:cNvSpPr>
          <p:nvPr>
            <p:ph type="body" idx="17" hasCustomPrompt="1"/>
          </p:nvPr>
        </p:nvSpPr>
        <p:spPr>
          <a:xfrm>
            <a:off x="5080000" y="3746500"/>
            <a:ext cx="4445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3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One sentence about this chapter.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Hook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truth-card"/>
          <p:cNvSpPr/>
          <p:nvPr/>
        </p:nvSpPr>
        <p:spPr>
          <a:xfrm>
            <a:off x="1524000" y="3302000"/>
            <a:ext cx="3810000" cy="2286000"/>
          </a:xfrm>
          <a:prstGeom prst="roundRect">
            <a:avLst>
              <a:gd name="adj" fmla="val 5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answer-card"/>
          <p:cNvSpPr/>
          <p:nvPr/>
        </p:nvSpPr>
        <p:spPr>
          <a:xfrm>
            <a:off x="5588000" y="3302000"/>
            <a:ext cx="3937000" cy="2286000"/>
          </a:xfrm>
          <a:prstGeom prst="roundRect">
            <a:avLst>
              <a:gd name="adj" fmla="val 5000"/>
            </a:avLst>
          </a:prstGeom>
          <a:solidFill>
            <a:srgbClr val="283237"/>
          </a:solidFill>
          <a:ln w="12700">
            <a:solidFill>
              <a:srgbClr val="00A5FF"/>
            </a:solidFill>
          </a:ln>
          <a:effectLst>
            <a:glow rad="317500">
              <a:srgbClr val="00A5FF">
                <a:alpha val="4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Quote"/>
          <p:cNvSpPr>
            <a:spLocks noGrp="1"/>
          </p:cNvSpPr>
          <p:nvPr>
            <p:ph type="body" idx="18" hasCustomPrompt="1"/>
          </p:nvPr>
        </p:nvSpPr>
        <p:spPr>
          <a:xfrm>
            <a:off x="1524000" y="1079500"/>
            <a:ext cx="8255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6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The question your patient asks</a:t>
            </a:r>
          </a:p>
        </p:txBody>
      </p:sp>
      <p:sp>
        <p:nvSpPr>
          <p:cNvPr id="10" name="TruthLabel"/>
          <p:cNvSpPr>
            <a:spLocks noGrp="1"/>
          </p:cNvSpPr>
          <p:nvPr>
            <p:ph type="body" idx="19" hasCustomPrompt="1"/>
          </p:nvPr>
        </p:nvSpPr>
        <p:spPr>
          <a:xfrm>
            <a:off x="1841500" y="3556000"/>
            <a:ext cx="317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76">
                <a:solidFill>
                  <a:srgbClr val="ABB7BE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The hard truth</a:t>
            </a:r>
          </a:p>
        </p:txBody>
      </p:sp>
      <p:sp>
        <p:nvSpPr>
          <p:cNvPr id="11" name="TruthText"/>
          <p:cNvSpPr>
            <a:spLocks noGrp="1"/>
          </p:cNvSpPr>
          <p:nvPr>
            <p:ph type="body" idx="20" hasCustomPrompt="1"/>
          </p:nvPr>
        </p:nvSpPr>
        <p:spPr>
          <a:xfrm>
            <a:off x="1841500" y="3873500"/>
            <a:ext cx="3175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What really happens.</a:t>
            </a:r>
          </a:p>
        </p:txBody>
      </p:sp>
      <p:sp>
        <p:nvSpPr>
          <p:cNvPr id="12" name="AnswerLabel"/>
          <p:cNvSpPr>
            <a:spLocks noGrp="1"/>
          </p:cNvSpPr>
          <p:nvPr>
            <p:ph type="body" idx="21" hasCustomPrompt="1"/>
          </p:nvPr>
        </p:nvSpPr>
        <p:spPr>
          <a:xfrm>
            <a:off x="5905500" y="35560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7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The fläsh answer</a:t>
            </a:r>
          </a:p>
        </p:txBody>
      </p:sp>
      <p:sp>
        <p:nvSpPr>
          <p:cNvPr id="13" name="AnswerText"/>
          <p:cNvSpPr>
            <a:spLocks noGrp="1"/>
          </p:cNvSpPr>
          <p:nvPr>
            <p:ph type="body" idx="22" hasCustomPrompt="1"/>
          </p:nvPr>
        </p:nvSpPr>
        <p:spPr>
          <a:xfrm>
            <a:off x="5905500" y="3873500"/>
            <a:ext cx="3302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How the protocol solves it.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Closing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next-card"/>
          <p:cNvSpPr/>
          <p:nvPr/>
        </p:nvSpPr>
        <p:spPr>
          <a:xfrm>
            <a:off x="7493000" y="2095500"/>
            <a:ext cx="3937000" cy="2095500"/>
          </a:xfrm>
          <a:prstGeom prst="roundRect">
            <a:avLst>
              <a:gd name="adj" fmla="val 5454"/>
            </a:avLst>
          </a:prstGeom>
          <a:solidFill>
            <a:srgbClr val="283237"/>
          </a:solidFill>
          <a:ln w="12700">
            <a:solidFill>
              <a:srgbClr val="00A5FF"/>
            </a:solidFill>
          </a:ln>
          <a:effectLst>
            <a:glow rad="317500">
              <a:srgbClr val="00A5FF">
                <a:alpha val="4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7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NextLabel"/>
          <p:cNvSpPr>
            <a:spLocks noGrp="1"/>
          </p:cNvSpPr>
          <p:nvPr>
            <p:ph type="body" idx="23" hasCustomPrompt="1"/>
          </p:nvPr>
        </p:nvSpPr>
        <p:spPr>
          <a:xfrm>
            <a:off x="7810500" y="23495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7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Up next</a:t>
            </a:r>
          </a:p>
        </p:txBody>
      </p:sp>
      <p:sp>
        <p:nvSpPr>
          <p:cNvPr id="10" name="NextTitle"/>
          <p:cNvSpPr>
            <a:spLocks noGrp="1"/>
          </p:cNvSpPr>
          <p:nvPr>
            <p:ph type="body" idx="24" hasCustomPrompt="1"/>
          </p:nvPr>
        </p:nvSpPr>
        <p:spPr>
          <a:xfrm>
            <a:off x="7810500" y="26035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Episode 00 · Title</a:t>
            </a:r>
          </a:p>
        </p:txBody>
      </p:sp>
      <p:sp>
        <p:nvSpPr>
          <p:cNvPr id="11" name="NextText"/>
          <p:cNvSpPr>
            <a:spLocks noGrp="1"/>
          </p:cNvSpPr>
          <p:nvPr>
            <p:ph type="body" idx="25" hasCustomPrompt="1"/>
          </p:nvPr>
        </p:nvSpPr>
        <p:spPr>
          <a:xfrm>
            <a:off x="7810500" y="3429000"/>
            <a:ext cx="3302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What the next episode covers.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Poin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oints"/>
          <p:cNvSpPr>
            <a:spLocks noGrp="1"/>
          </p:cNvSpPr>
          <p:nvPr>
            <p:ph type="body" idx="26" hasCustomPrompt="1"/>
          </p:nvPr>
        </p:nvSpPr>
        <p:spPr>
          <a:xfrm>
            <a:off x="1524000" y="2095500"/>
            <a:ext cx="8001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508000" indent="-508000" algn="l">
              <a:spcBef>
                <a:spcPts val="2200"/>
              </a:spcBef>
              <a:spcAft>
                <a:spcPts val="0"/>
              </a:spcAft>
              <a:buNone/>
              <a:tabLst>
                <a:tab pos="508000" algn="l"/>
              </a:tabLst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  <a:lvl2pPr marL="5080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2pPr>
          </a:lstStyle>
          <a:p>
            <a:r>
              <a:rPr lang="en-US" dirty="0"/>
              <a:t>01	Point title</a:t>
            </a:r>
          </a:p>
          <a:p>
            <a:pPr lvl="1"/>
            <a:r>
              <a:rPr lang="en-US" dirty="0"/>
              <a:t>Short explanation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Points +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oints"/>
          <p:cNvSpPr>
            <a:spLocks noGrp="1"/>
          </p:cNvSpPr>
          <p:nvPr>
            <p:ph type="body" idx="26" hasCustomPrompt="1"/>
          </p:nvPr>
        </p:nvSpPr>
        <p:spPr>
          <a:xfrm>
            <a:off x="1524000" y="2095500"/>
            <a:ext cx="4445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508000" indent="-508000" algn="l">
              <a:spcBef>
                <a:spcPts val="2200"/>
              </a:spcBef>
              <a:spcAft>
                <a:spcPts val="0"/>
              </a:spcAft>
              <a:buNone/>
              <a:tabLst>
                <a:tab pos="508000" algn="l"/>
              </a:tabLst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  <a:lvl2pPr marL="5080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2pPr>
          </a:lstStyle>
          <a:p>
            <a:r>
              <a:rPr lang="en-US" dirty="0"/>
              <a:t>01	Point title</a:t>
            </a:r>
          </a:p>
          <a:p>
            <a:pPr lvl="1"/>
            <a:r>
              <a:rPr lang="en-US" dirty="0"/>
              <a:t>Short explanation</a:t>
            </a:r>
          </a:p>
        </p:txBody>
      </p:sp>
      <p:sp>
        <p:nvSpPr>
          <p:cNvPr id="9" name="Photo"/>
          <p:cNvSpPr>
            <a:spLocks noGrp="1"/>
          </p:cNvSpPr>
          <p:nvPr>
            <p:ph type="pic" idx="15" hasCustomPrompt="1"/>
          </p:nvPr>
        </p:nvSpPr>
        <p:spPr>
          <a:xfrm>
            <a:off x="6350000" y="1905000"/>
            <a:ext cx="5080000" cy="2540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27" hasCustomPrompt="1"/>
          </p:nvPr>
        </p:nvSpPr>
        <p:spPr>
          <a:xfrm>
            <a:off x="6350000" y="4521200"/>
            <a:ext cx="342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Photo caption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 Points +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oints"/>
          <p:cNvSpPr>
            <a:spLocks noGrp="1"/>
          </p:cNvSpPr>
          <p:nvPr>
            <p:ph type="body" idx="26" hasCustomPrompt="1"/>
          </p:nvPr>
        </p:nvSpPr>
        <p:spPr>
          <a:xfrm>
            <a:off x="1524000" y="2095500"/>
            <a:ext cx="4445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508000" indent="-508000" algn="l">
              <a:spcBef>
                <a:spcPts val="2200"/>
              </a:spcBef>
              <a:spcAft>
                <a:spcPts val="0"/>
              </a:spcAft>
              <a:buNone/>
              <a:tabLst>
                <a:tab pos="508000" algn="l"/>
              </a:tabLst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  <a:lvl2pPr marL="5080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2pPr>
          </a:lstStyle>
          <a:p>
            <a:r>
              <a:rPr lang="en-US" dirty="0"/>
              <a:t>01	Point title</a:t>
            </a:r>
          </a:p>
          <a:p>
            <a:pPr lvl="1"/>
            <a:r>
              <a:rPr lang="en-US" dirty="0"/>
              <a:t>Short explanation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 Stat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Big"/>
          <p:cNvSpPr>
            <a:spLocks noGrp="1"/>
          </p:cNvSpPr>
          <p:nvPr>
            <p:ph type="body" idx="28" hasCustomPrompt="1"/>
          </p:nvPr>
        </p:nvSpPr>
        <p:spPr>
          <a:xfrm>
            <a:off x="1524000" y="1270000"/>
            <a:ext cx="8255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6000" b="0" i="0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30</a:t>
            </a:r>
          </a:p>
        </p:txBody>
      </p:sp>
      <p:sp>
        <p:nvSpPr>
          <p:cNvPr id="8" name="Statement"/>
          <p:cNvSpPr>
            <a:spLocks noGrp="1"/>
          </p:cNvSpPr>
          <p:nvPr>
            <p:ph type="body" idx="29" hasCustomPrompt="1"/>
          </p:nvPr>
        </p:nvSpPr>
        <p:spPr>
          <a:xfrm>
            <a:off x="1524000" y="355600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2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Statement in one or two lines</a:t>
            </a:r>
          </a:p>
        </p:txBody>
      </p:sp>
      <p:sp>
        <p:nvSpPr>
          <p:cNvPr id="9" name="Text"/>
          <p:cNvSpPr>
            <a:spLocks noGrp="1"/>
          </p:cNvSpPr>
          <p:nvPr>
            <p:ph type="body" idx="30" hasCustomPrompt="1"/>
          </p:nvPr>
        </p:nvSpPr>
        <p:spPr>
          <a:xfrm>
            <a:off x="1524000" y="4635500"/>
            <a:ext cx="7620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Supporting sentence.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 Check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Compa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Sca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oints"/>
          <p:cNvSpPr>
            <a:spLocks noGrp="1"/>
          </p:cNvSpPr>
          <p:nvPr>
            <p:ph type="body" idx="26" hasCustomPrompt="1"/>
          </p:nvPr>
        </p:nvSpPr>
        <p:spPr>
          <a:xfrm>
            <a:off x="1524000" y="3556000"/>
            <a:ext cx="8001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508000" indent="-508000" algn="l">
              <a:spcBef>
                <a:spcPts val="2200"/>
              </a:spcBef>
              <a:spcAft>
                <a:spcPts val="0"/>
              </a:spcAft>
              <a:buNone/>
              <a:tabLst>
                <a:tab pos="508000" algn="l"/>
              </a:tabLst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  <a:lvl2pPr marL="5080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2pPr>
          </a:lstStyle>
          <a:p>
            <a:r>
              <a:rPr lang="en-US" dirty="0"/>
              <a:t>01	Point title</a:t>
            </a:r>
          </a:p>
          <a:p>
            <a:pPr lvl="1"/>
            <a:r>
              <a:rPr lang="en-US" dirty="0"/>
              <a:t>Short explanation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Photo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Photo"/>
          <p:cNvSpPr>
            <a:spLocks noGrp="1"/>
          </p:cNvSpPr>
          <p:nvPr>
            <p:ph type="pic" idx="15" hasCustomPrompt="1"/>
          </p:nvPr>
        </p:nvSpPr>
        <p:spPr>
          <a:xfrm>
            <a:off x="952500" y="0"/>
            <a:ext cx="11239500" cy="6858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7" name="Kicker"/>
          <p:cNvSpPr>
            <a:spLocks noGrp="1"/>
          </p:cNvSpPr>
          <p:nvPr>
            <p:ph type="body" idx="11" hasCustomPrompt="1"/>
          </p:nvPr>
        </p:nvSpPr>
        <p:spPr>
          <a:xfrm>
            <a:off x="1206500" y="4953000"/>
            <a:ext cx="8255000" cy="3937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wrap="square" lIns="254000" tIns="139700" rIns="25400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Step by step</a:t>
            </a:r>
          </a:p>
        </p:txBody>
      </p:sp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1206500" y="5334000"/>
            <a:ext cx="8255000" cy="7112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wrap="square" lIns="254000" tIns="38100" rIns="25400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Photo title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27" hasCustomPrompt="1"/>
          </p:nvPr>
        </p:nvSpPr>
        <p:spPr>
          <a:xfrm>
            <a:off x="1206500" y="6032500"/>
            <a:ext cx="8255000" cy="5715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wrap="square" lIns="254000" tIns="0" rIns="254000" bIns="11430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Caption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Before / Af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hotoBefore"/>
          <p:cNvSpPr>
            <a:spLocks noGrp="1"/>
          </p:cNvSpPr>
          <p:nvPr>
            <p:ph type="pic" idx="31" hasCustomPrompt="1"/>
          </p:nvPr>
        </p:nvSpPr>
        <p:spPr>
          <a:xfrm>
            <a:off x="1524000" y="2095500"/>
            <a:ext cx="3810000" cy="2540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9" name="PhotoAfter"/>
          <p:cNvSpPr>
            <a:spLocks noGrp="1"/>
          </p:cNvSpPr>
          <p:nvPr>
            <p:ph type="pic" idx="32" hasCustomPrompt="1"/>
          </p:nvPr>
        </p:nvSpPr>
        <p:spPr>
          <a:xfrm>
            <a:off x="5715000" y="2095500"/>
            <a:ext cx="3810000" cy="2540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10" name="LabelBefore"/>
          <p:cNvSpPr>
            <a:spLocks noGrp="1"/>
          </p:cNvSpPr>
          <p:nvPr>
            <p:ph type="body" idx="33" hasCustomPrompt="1"/>
          </p:nvPr>
        </p:nvSpPr>
        <p:spPr>
          <a:xfrm>
            <a:off x="1524000" y="47625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Before</a:t>
            </a:r>
          </a:p>
        </p:txBody>
      </p:sp>
      <p:sp>
        <p:nvSpPr>
          <p:cNvPr id="11" name="LabelAfter"/>
          <p:cNvSpPr>
            <a:spLocks noGrp="1"/>
          </p:cNvSpPr>
          <p:nvPr>
            <p:ph type="body" idx="34" hasCustomPrompt="1"/>
          </p:nvPr>
        </p:nvSpPr>
        <p:spPr>
          <a:xfrm>
            <a:off x="5715000" y="47625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After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 Photo Annotat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hoto"/>
          <p:cNvSpPr>
            <a:spLocks noGrp="1"/>
          </p:cNvSpPr>
          <p:nvPr>
            <p:ph type="pic" idx="15" hasCustomPrompt="1"/>
          </p:nvPr>
        </p:nvSpPr>
        <p:spPr>
          <a:xfrm>
            <a:off x="1524000" y="1905000"/>
            <a:ext cx="5715000" cy="3810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 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tory"/>
          <p:cNvSpPr>
            <a:spLocks noGrp="1"/>
          </p:cNvSpPr>
          <p:nvPr>
            <p:ph type="body" idx="35" hasCustomPrompt="1"/>
          </p:nvPr>
        </p:nvSpPr>
        <p:spPr>
          <a:xfrm>
            <a:off x="1524000" y="209550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The case in two or three sentences.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Quiz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Question"/>
          <p:cNvSpPr>
            <a:spLocks noGrp="1"/>
          </p:cNvSpPr>
          <p:nvPr>
            <p:ph type="body" idx="36" hasCustomPrompt="1"/>
          </p:nvPr>
        </p:nvSpPr>
        <p:spPr>
          <a:xfrm>
            <a:off x="1524000" y="1143000"/>
            <a:ext cx="8001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6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Question?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900" kern="1200">
          <a:solidFill>
            <a:srgbClr val="5D6C7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2100" kern="1200">
          <a:solidFill>
            <a:srgbClr val="5D6C73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700" kern="1200">
          <a:solidFill>
            <a:srgbClr val="333333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700" kern="1200">
          <a:solidFill>
            <a:srgbClr val="333333"/>
          </a:solidFill>
          <a:latin typeface="+mn-lt"/>
          <a:ea typeface="+mn-ea"/>
          <a:cs typeface="+mn-cs"/>
        </a:defRPr>
      </a:lvl3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700" kern="1200">
          <a:solidFill>
            <a:srgbClr val="333333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01 · cover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In-Office Whitening Workflow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Step-by-Step Protocol + Common Mistakes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Dr. Germán Gómez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DDS · MD · PhD (University of Tübingen) · Esthetic Dentistry &amp; Implantology, Spain</a:t>
            </a:r>
          </a:p>
          <a:p>
            <a:r>
              <a:t>500+ lectures · 43 countries</a:t>
            </a:r>
          </a:p>
        </p:txBody>
      </p:sp>
      <p:pic>
        <p:nvPicPr>
          <p:cNvPr id="8" name="Picture Placeholder 7" descr="gomez.jp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/>
          <a:stretch>
            <a:fillRect/>
          </a:stretch>
        </p:blipFill>
        <p:spPr>
          <a:prstGeom prst="ellipse"/>
          <a:ln w="38100">
            <a:solidFill>
              <a:srgbClr val="00A5FF"/>
            </a:solidFill>
          </a:ln>
          <a:effectLst>
            <a:glow rad="571500">
              <a:srgbClr val="00A5FF">
                <a:alpha val="60000"/>
              </a:srgb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02 · chapter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t>The gel is engineered for precision.</a:t>
            </a:r>
          </a:p>
        </p:txBody>
      </p:sp>
      <p:sp>
        <p:nvSpPr>
          <p:cNvPr id="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12" name="rail-dot-3-active"/>
          <p:cNvSpPr/>
          <p:nvPr/>
        </p:nvSpPr>
        <p:spPr>
          <a:xfrm>
            <a:off x="336550" y="32258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3</a:t>
            </a:r>
          </a:p>
        </p:txBody>
      </p:sp>
      <p:sp>
        <p:nvSpPr>
          <p:cNvPr id="1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03 · hook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t>“My friend had her whitening done here — hers looks incredible. Will mine?”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t>The hard truth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Same gel, same lamp — two clinics, visibly different results. The chemistry never changes between offices. The workflow does.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The fläsh answer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If the outcome depends on who happens to be working that day, you have a whitening lottery. A strict, standardized protocol ends the lottery.</a:t>
            </a:r>
          </a:p>
        </p:txBody>
      </p:sp>
      <p:sp>
        <p:nvSpPr>
          <p:cNvPr id="9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2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4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6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8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8597A0"/>
                </a:solidFill>
                <a:latin typeface="Corporate S"/>
              </a:rPr>
              <a:t>IN-OFFICE WHITENING WORKFLOW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04 · closing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Make It Your Team’s Reflex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Up next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Episode 03 · Sensitivity Prevention &amp; Management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Preventing it, managing it — and turning a complaint into loyalty.</a:t>
            </a:r>
          </a:p>
        </p:txBody>
      </p:sp>
      <p:sp>
        <p:nvSpPr>
          <p:cNvPr id="8" name="next-step-num-1"/>
          <p:cNvSpPr/>
          <p:nvPr/>
        </p:nvSpPr>
        <p:spPr>
          <a:xfrm>
            <a:off x="1524000" y="2095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1</a:t>
            </a:r>
          </a:p>
        </p:txBody>
      </p:sp>
      <p:sp>
        <p:nvSpPr>
          <p:cNvPr id="9" name="next-step-title-1"/>
          <p:cNvSpPr txBox="1"/>
          <p:nvPr/>
        </p:nvSpPr>
        <p:spPr>
          <a:xfrm>
            <a:off x="2006600" y="2114550"/>
            <a:ext cx="5105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Run one full dry run</a:t>
            </a:r>
          </a:p>
        </p:txBody>
      </p:sp>
      <p:sp>
        <p:nvSpPr>
          <p:cNvPr id="10" name="next-step-text-1"/>
          <p:cNvSpPr txBox="1"/>
          <p:nvPr/>
        </p:nvSpPr>
        <p:spPr>
          <a:xfrm>
            <a:off x="2006600" y="24511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No patient in the chair — your assistant drives the fläshcard start to finish.</a:t>
            </a:r>
          </a:p>
        </p:txBody>
      </p:sp>
      <p:sp>
        <p:nvSpPr>
          <p:cNvPr id="11" name="next-step-num-2"/>
          <p:cNvSpPr/>
          <p:nvPr/>
        </p:nvSpPr>
        <p:spPr>
          <a:xfrm>
            <a:off x="1524000" y="3111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2</a:t>
            </a:r>
          </a:p>
        </p:txBody>
      </p:sp>
      <p:sp>
        <p:nvSpPr>
          <p:cNvPr id="12" name="next-step-title-2"/>
          <p:cNvSpPr txBox="1"/>
          <p:nvPr/>
        </p:nvSpPr>
        <p:spPr>
          <a:xfrm>
            <a:off x="2006600" y="3130550"/>
            <a:ext cx="5105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Appoint an SOP owner</a:t>
            </a:r>
          </a:p>
        </p:txBody>
      </p:sp>
      <p:sp>
        <p:nvSpPr>
          <p:cNvPr id="13" name="next-step-text-2"/>
          <p:cNvSpPr txBox="1"/>
          <p:nvPr/>
        </p:nvSpPr>
        <p:spPr>
          <a:xfrm>
            <a:off x="2006600" y="34671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One team member owns this protocol — and audits the clinic against it.</a:t>
            </a:r>
          </a:p>
        </p:txBody>
      </p:sp>
      <p:sp>
        <p:nvSpPr>
          <p:cNvPr id="14" name="next-step-num-3"/>
          <p:cNvSpPr/>
          <p:nvPr/>
        </p:nvSpPr>
        <p:spPr>
          <a:xfrm>
            <a:off x="1524000" y="4127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3</a:t>
            </a:r>
          </a:p>
        </p:txBody>
      </p:sp>
      <p:sp>
        <p:nvSpPr>
          <p:cNvPr id="15" name="next-step-title-3"/>
          <p:cNvSpPr txBox="1"/>
          <p:nvPr/>
        </p:nvSpPr>
        <p:spPr>
          <a:xfrm>
            <a:off x="2006600" y="4146550"/>
            <a:ext cx="5105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Laminate the phases</a:t>
            </a:r>
          </a:p>
        </p:txBody>
      </p:sp>
      <p:sp>
        <p:nvSpPr>
          <p:cNvPr id="16" name="next-step-text-3"/>
          <p:cNvSpPr txBox="1"/>
          <p:nvPr/>
        </p:nvSpPr>
        <p:spPr>
          <a:xfrm>
            <a:off x="2006600" y="44831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Visible chairside, next to the Seven Sins of Improper Isolation.</a:t>
            </a:r>
          </a:p>
        </p:txBody>
      </p:sp>
      <p:sp>
        <p:nvSpPr>
          <p:cNvPr id="1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8597A0"/>
                </a:solidFill>
                <a:latin typeface="Corporate S"/>
              </a:rPr>
              <a:t>IN-OFFICE WHITENING WORKFLOW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05 · 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mm. Green. Neutral pH.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Dual-chamber 32% HP.</a:t>
            </a:r>
          </a:p>
          <a:p>
            <a:pPr lvl="1"/>
            <a:r>
              <a:t>Mix fresh — full potency protected until the moment of mixing.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Green = precision.</a:t>
            </a:r>
          </a:p>
          <a:p>
            <a:pPr lvl="1"/>
            <a:r>
              <a:t>You see every surface covered — the gel turns clear as oxygen releases.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Oxidation, not erosion.</a:t>
            </a:r>
          </a:p>
          <a:p>
            <a:pPr lvl="1"/>
            <a:r>
              <a:t>Oxidation of chromogens at a neutral pH — never corroding the enamel.</a:t>
            </a:r>
          </a:p>
          <a:p>
            <a:pPr/>
            <a:r>
              <a:rPr>
                <a:solidFill>
                  <a:srgbClr val="00A5FF"/>
                </a:solidFill>
              </a:rPr>
              <a:t>04</a:t>
            </a:r>
            <a:r>
              <a:t>	Minimum 1 mm, everywhere.</a:t>
            </a:r>
          </a:p>
          <a:p>
            <a:pPr lvl="1"/>
            <a:r>
              <a:t>A thin, starved layer produces a pale patch — Sin #5.</a:t>
            </a:r>
          </a:p>
        </p:txBody>
      </p:sp>
      <p:sp>
        <p:nvSpPr>
          <p:cNvPr id="6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9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11" name="rail-dot-3-active"/>
          <p:cNvSpPr/>
          <p:nvPr/>
        </p:nvSpPr>
        <p:spPr>
          <a:xfrm>
            <a:off x="336550" y="32258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3</a:t>
            </a:r>
          </a:p>
        </p:txBody>
      </p:sp>
      <p:sp>
        <p:nvSpPr>
          <p:cNvPr id="13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5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06 · points_photo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 Tissue First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Vitamin E or vaseline on the lips.</a:t>
            </a:r>
          </a:p>
          <a:p>
            <a:pPr lvl="1"/>
            <a:r>
              <a:t>Then the fläsh lip retractor, docked onto the lamp head.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Filtered eye protection.</a:t>
            </a:r>
          </a:p>
          <a:p>
            <a:pPr lvl="1"/>
            <a:r>
              <a:t>For the patient and for every team member present.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Gingiva protector, light-cured.</a:t>
            </a:r>
          </a:p>
          <a:p>
            <a:pPr lvl="1"/>
            <a:r>
              <a:t>Dry gingiva; only slight overlap onto cervical enamel; cure until solid.</a:t>
            </a:r>
          </a:p>
        </p:txBody>
      </p:sp>
      <p:sp>
        <p:nvSpPr>
          <p:cNvPr id="8" name="brief-card"/>
          <p:cNvSpPr/>
          <p:nvPr/>
        </p:nvSpPr>
        <p:spPr>
          <a:xfrm>
            <a:off x="6350000" y="1905000"/>
            <a:ext cx="5080000" cy="2540000"/>
          </a:xfrm>
          <a:prstGeom prst="rect">
            <a:avLst/>
          </a:prstGeom>
          <a:solidFill>
            <a:srgbClr val="DEE7EC"/>
          </a:solidFill>
          <a:ln w="12700">
            <a:solidFill>
              <a:srgbClr val="ABB7B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rief-icon"/>
          <p:cNvSpPr/>
          <p:nvPr/>
        </p:nvSpPr>
        <p:spPr>
          <a:xfrm>
            <a:off x="8686800" y="2679700"/>
            <a:ext cx="406400" cy="292100"/>
          </a:xfrm>
          <a:prstGeom prst="roundRect">
            <a:avLst>
              <a:gd name="adj" fmla="val 17391"/>
            </a:avLst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rief-icon-lens"/>
          <p:cNvSpPr/>
          <p:nvPr/>
        </p:nvSpPr>
        <p:spPr>
          <a:xfrm>
            <a:off x="8813800" y="2749550"/>
            <a:ext cx="152400" cy="1524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rief-text"/>
          <p:cNvSpPr txBox="1"/>
          <p:nvPr/>
        </p:nvSpPr>
        <p:spPr>
          <a:xfrm>
            <a:off x="6604000" y="3073400"/>
            <a:ext cx="4572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Set-up: lamp docked on the lip retractor, patient wearing filtered goggles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Lamp docked on the lip retractor · filtered goggles</a:t>
            </a:r>
          </a:p>
        </p:txBody>
      </p:sp>
      <p:sp>
        <p:nvSpPr>
          <p:cNvPr id="12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5" name="rail-dot-2-active"/>
          <p:cNvSpPr/>
          <p:nvPr/>
        </p:nvSpPr>
        <p:spPr>
          <a:xfrm>
            <a:off x="336550" y="25654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2</a:t>
            </a:r>
          </a:p>
        </p:txBody>
      </p:sp>
      <p:sp>
        <p:nvSpPr>
          <p:cNvPr id="17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9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1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3" name="evidence-label"/>
          <p:cNvSpPr txBox="1"/>
          <p:nvPr/>
        </p:nvSpPr>
        <p:spPr>
          <a:xfrm>
            <a:off x="1524000" y="5842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Evidence</a:t>
            </a:r>
          </a:p>
        </p:txBody>
      </p:sp>
      <p:sp>
        <p:nvSpPr>
          <p:cNvPr id="24" name="evidence-text"/>
          <p:cNvSpPr txBox="1"/>
          <p:nvPr/>
        </p:nvSpPr>
        <p:spPr>
          <a:xfrm>
            <a:off x="1524000" y="60198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Li &amp; Greenwall, Br Dent J 2013</a:t>
            </a:r>
          </a:p>
        </p:txBody>
      </p:sp>
      <p:sp>
        <p:nvSpPr>
          <p:cNvPr id="25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07 · points_chart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Lamp: Position Is Power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Lock the geometry.</a:t>
            </a:r>
          </a:p>
          <a:p>
            <a:pPr lvl="1"/>
            <a:r>
              <a:t>Patient at 45°, lamp head locked on the retractor — intensity level IIII.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The expensive centimetre.</a:t>
            </a:r>
          </a:p>
          <a:p>
            <a:pPr lvl="1"/>
            <a:r>
              <a:t>One centimetre of gap costs ≈50% of the power.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Complementary-colour activation.</a:t>
            </a:r>
          </a:p>
          <a:p>
            <a:pPr lvl="1"/>
            <a:r>
              <a:t>Blue 460 nm light, absorbed by the green gel — no UV, no infrared, below 39 °C.</a:t>
            </a:r>
          </a:p>
        </p:txBody>
      </p:sp>
      <p:sp>
        <p:nvSpPr>
          <p:cNvPr id="6" name="chart-card"/>
          <p:cNvSpPr/>
          <p:nvPr/>
        </p:nvSpPr>
        <p:spPr>
          <a:xfrm>
            <a:off x="6350000" y="2095500"/>
            <a:ext cx="5080000" cy="2235200"/>
          </a:xfrm>
          <a:prstGeom prst="roundRect">
            <a:avLst>
              <a:gd name="adj" fmla="val 5113"/>
            </a:avLst>
          </a:prstGeom>
          <a:solidFill>
            <a:srgbClr val="DEE7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art-title"/>
          <p:cNvSpPr txBox="1"/>
          <p:nvPr/>
        </p:nvSpPr>
        <p:spPr>
          <a:xfrm>
            <a:off x="6667500" y="2311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 cap="all" spc="196">
                <a:solidFill>
                  <a:srgbClr val="5D6C73"/>
                </a:solidFill>
                <a:latin typeface="Corporate S"/>
              </a:rPr>
              <a:t>Light power at the enamel</a:t>
            </a:r>
          </a:p>
        </p:txBody>
      </p:sp>
      <p:sp>
        <p:nvSpPr>
          <p:cNvPr id="8" name="bar-track-1"/>
          <p:cNvSpPr/>
          <p:nvPr/>
        </p:nvSpPr>
        <p:spPr>
          <a:xfrm>
            <a:off x="6667500" y="2921000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ar-fill-1"/>
          <p:cNvSpPr/>
          <p:nvPr/>
        </p:nvSpPr>
        <p:spPr>
          <a:xfrm>
            <a:off x="6667500" y="2921000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00A5FF"/>
          </a:solidFill>
          <a:ln>
            <a:noFill/>
          </a:ln>
          <a:effectLst>
            <a:glow rad="190500">
              <a:srgbClr val="00A5FF">
                <a:alpha val="6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bar-value-1"/>
          <p:cNvSpPr txBox="1"/>
          <p:nvPr/>
        </p:nvSpPr>
        <p:spPr>
          <a:xfrm>
            <a:off x="10350500" y="2889250"/>
            <a:ext cx="7620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" b="0" i="0">
                <a:solidFill>
                  <a:srgbClr val="5D6C73"/>
                </a:solidFill>
                <a:latin typeface="Corporate S"/>
              </a:rPr>
              <a:t>100%</a:t>
            </a:r>
          </a:p>
        </p:txBody>
      </p:sp>
      <p:sp>
        <p:nvSpPr>
          <p:cNvPr id="11" name="bar-track-2"/>
          <p:cNvSpPr/>
          <p:nvPr/>
        </p:nvSpPr>
        <p:spPr>
          <a:xfrm>
            <a:off x="6667500" y="3581400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ar-fill-2"/>
          <p:cNvSpPr/>
          <p:nvPr/>
        </p:nvSpPr>
        <p:spPr>
          <a:xfrm>
            <a:off x="6667500" y="3581400"/>
            <a:ext cx="2026920" cy="254000"/>
          </a:xfrm>
          <a:prstGeom prst="roundRect">
            <a:avLst>
              <a:gd name="adj" fmla="val 50000"/>
            </a:avLst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ar-value-2"/>
          <p:cNvSpPr txBox="1"/>
          <p:nvPr/>
        </p:nvSpPr>
        <p:spPr>
          <a:xfrm>
            <a:off x="10350500" y="3549650"/>
            <a:ext cx="7620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" b="0" i="0">
                <a:solidFill>
                  <a:srgbClr val="5D6C73"/>
                </a:solidFill>
                <a:latin typeface="Corporate S"/>
              </a:rPr>
              <a:t>56%</a:t>
            </a:r>
          </a:p>
        </p:txBody>
      </p:sp>
      <p:sp>
        <p:nvSpPr>
          <p:cNvPr id="14" name="bar-label-1"/>
          <p:cNvSpPr txBox="1"/>
          <p:nvPr/>
        </p:nvSpPr>
        <p:spPr>
          <a:xfrm>
            <a:off x="6667500" y="2628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Lamp docked on the retractor</a:t>
            </a:r>
          </a:p>
        </p:txBody>
      </p:sp>
      <p:sp>
        <p:nvSpPr>
          <p:cNvPr id="15" name="bar-label-2"/>
          <p:cNvSpPr txBox="1"/>
          <p:nvPr/>
        </p:nvSpPr>
        <p:spPr>
          <a:xfrm>
            <a:off x="6667500" y="32893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1 cm of extra gap</a:t>
            </a:r>
          </a:p>
        </p:txBody>
      </p:sp>
      <p:sp>
        <p:nvSpPr>
          <p:cNvPr id="16" name="chart-note"/>
          <p:cNvSpPr txBox="1"/>
          <p:nvPr/>
        </p:nvSpPr>
        <p:spPr>
          <a:xfrm>
            <a:off x="6667500" y="39751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1 cm of extra gap ≈ 50% less light power (3² = 9 vs 4² = 16)</a:t>
            </a:r>
          </a:p>
        </p:txBody>
      </p:sp>
      <p:sp>
        <p:nvSpPr>
          <p:cNvPr id="1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2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22" name="rail-dot-3-active"/>
          <p:cNvSpPr/>
          <p:nvPr/>
        </p:nvSpPr>
        <p:spPr>
          <a:xfrm>
            <a:off x="336550" y="32258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3</a:t>
            </a:r>
          </a:p>
        </p:txBody>
      </p:sp>
      <p:sp>
        <p:nvSpPr>
          <p:cNvPr id="2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8" name="evidence-label"/>
          <p:cNvSpPr txBox="1"/>
          <p:nvPr/>
        </p:nvSpPr>
        <p:spPr>
          <a:xfrm>
            <a:off x="1524000" y="5842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Evidence</a:t>
            </a:r>
          </a:p>
        </p:txBody>
      </p:sp>
      <p:sp>
        <p:nvSpPr>
          <p:cNvPr id="29" name="evidence-text"/>
          <p:cNvSpPr txBox="1"/>
          <p:nvPr/>
        </p:nvSpPr>
        <p:spPr>
          <a:xfrm>
            <a:off x="1524000" y="60198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Ontiveros &amp; Paravina, J Dent 2009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08 · statement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t>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r>
              <a:t>years of German-made whitening expertise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Gel, lamp and fläshcard engineered as one closed system · WHITEsmile</a:t>
            </a:r>
          </a:p>
        </p:txBody>
      </p:sp>
      <p:sp>
        <p:nvSpPr>
          <p:cNvPr id="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09 · 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Seven Sins of Isolation</a:t>
            </a:r>
          </a:p>
        </p:txBody>
      </p:sp>
      <p:sp>
        <p:nvSpPr>
          <p:cNvPr id="5" name="check-num-1"/>
          <p:cNvSpPr/>
          <p:nvPr/>
        </p:nvSpPr>
        <p:spPr>
          <a:xfrm>
            <a:off x="1524000" y="20955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1</a:t>
            </a:r>
          </a:p>
        </p:txBody>
      </p:sp>
      <p:sp>
        <p:nvSpPr>
          <p:cNvPr id="6" name="check-text-1"/>
          <p:cNvSpPr txBox="1"/>
          <p:nvPr/>
        </p:nvSpPr>
        <p:spPr>
          <a:xfrm>
            <a:off x="2070100" y="20955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No lip protection — vitamin E or vaseline</a:t>
            </a:r>
          </a:p>
        </p:txBody>
      </p:sp>
      <p:sp>
        <p:nvSpPr>
          <p:cNvPr id="7" name="check-num-2"/>
          <p:cNvSpPr/>
          <p:nvPr/>
        </p:nvSpPr>
        <p:spPr>
          <a:xfrm>
            <a:off x="1524000" y="26162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2</a:t>
            </a:r>
          </a:p>
        </p:txBody>
      </p:sp>
      <p:sp>
        <p:nvSpPr>
          <p:cNvPr id="8" name="check-text-2"/>
          <p:cNvSpPr txBox="1"/>
          <p:nvPr/>
        </p:nvSpPr>
        <p:spPr>
          <a:xfrm>
            <a:off x="2070100" y="26162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Wrong retractor for the system</a:t>
            </a:r>
          </a:p>
        </p:txBody>
      </p:sp>
      <p:sp>
        <p:nvSpPr>
          <p:cNvPr id="9" name="check-num-3"/>
          <p:cNvSpPr/>
          <p:nvPr/>
        </p:nvSpPr>
        <p:spPr>
          <a:xfrm>
            <a:off x="1524000" y="31369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3</a:t>
            </a:r>
          </a:p>
        </p:txBody>
      </p:sp>
      <p:sp>
        <p:nvSpPr>
          <p:cNvPr id="10" name="check-text-3"/>
          <p:cNvSpPr txBox="1"/>
          <p:nvPr/>
        </p:nvSpPr>
        <p:spPr>
          <a:xfrm>
            <a:off x="2070100" y="31369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No filtered eye protection</a:t>
            </a:r>
          </a:p>
        </p:txBody>
      </p:sp>
      <p:sp>
        <p:nvSpPr>
          <p:cNvPr id="11" name="check-num-4"/>
          <p:cNvSpPr/>
          <p:nvPr/>
        </p:nvSpPr>
        <p:spPr>
          <a:xfrm>
            <a:off x="1524000" y="36576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4</a:t>
            </a:r>
          </a:p>
        </p:txBody>
      </p:sp>
      <p:sp>
        <p:nvSpPr>
          <p:cNvPr id="12" name="check-text-4"/>
          <p:cNvSpPr txBox="1"/>
          <p:nvPr/>
        </p:nvSpPr>
        <p:spPr>
          <a:xfrm>
            <a:off x="2070100" y="36576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Barrier not properly placed or cured</a:t>
            </a:r>
          </a:p>
        </p:txBody>
      </p:sp>
      <p:sp>
        <p:nvSpPr>
          <p:cNvPr id="13" name="check-num-5"/>
          <p:cNvSpPr/>
          <p:nvPr/>
        </p:nvSpPr>
        <p:spPr>
          <a:xfrm>
            <a:off x="1524000" y="41783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5</a:t>
            </a:r>
          </a:p>
        </p:txBody>
      </p:sp>
      <p:sp>
        <p:nvSpPr>
          <p:cNvPr id="14" name="check-text-5"/>
          <p:cNvSpPr txBox="1"/>
          <p:nvPr/>
        </p:nvSpPr>
        <p:spPr>
          <a:xfrm>
            <a:off x="2070100" y="41783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Not enough whitening gel (below 1 mm)</a:t>
            </a:r>
          </a:p>
        </p:txBody>
      </p:sp>
      <p:sp>
        <p:nvSpPr>
          <p:cNvPr id="15" name="check-num-6"/>
          <p:cNvSpPr/>
          <p:nvPr/>
        </p:nvSpPr>
        <p:spPr>
          <a:xfrm>
            <a:off x="1524000" y="46990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6</a:t>
            </a:r>
          </a:p>
        </p:txBody>
      </p:sp>
      <p:sp>
        <p:nvSpPr>
          <p:cNvPr id="16" name="check-text-6"/>
          <p:cNvSpPr txBox="1"/>
          <p:nvPr/>
        </p:nvSpPr>
        <p:spPr>
          <a:xfrm>
            <a:off x="2070100" y="46990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Patient left unattended — no signal agreed</a:t>
            </a:r>
          </a:p>
        </p:txBody>
      </p:sp>
      <p:sp>
        <p:nvSpPr>
          <p:cNvPr id="17" name="check-num-7"/>
          <p:cNvSpPr/>
          <p:nvPr/>
        </p:nvSpPr>
        <p:spPr>
          <a:xfrm>
            <a:off x="1524000" y="52197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7</a:t>
            </a:r>
          </a:p>
        </p:txBody>
      </p:sp>
      <p:sp>
        <p:nvSpPr>
          <p:cNvPr id="18" name="check-text-7"/>
          <p:cNvSpPr txBox="1"/>
          <p:nvPr/>
        </p:nvSpPr>
        <p:spPr>
          <a:xfrm>
            <a:off x="2070100" y="52197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Dentin sensitivity not managed</a:t>
            </a:r>
          </a:p>
        </p:txBody>
      </p:sp>
      <p:sp>
        <p:nvSpPr>
          <p:cNvPr id="19" name="focus-card"/>
          <p:cNvSpPr/>
          <p:nvPr/>
        </p:nvSpPr>
        <p:spPr>
          <a:xfrm>
            <a:off x="7747000" y="2095500"/>
            <a:ext cx="3683000" cy="2063750"/>
          </a:xfrm>
          <a:prstGeom prst="roundRect">
            <a:avLst>
              <a:gd name="adj" fmla="val 5538"/>
            </a:avLst>
          </a:prstGeom>
          <a:solidFill>
            <a:srgbClr val="1F272B"/>
          </a:solidFill>
          <a:ln w="12700">
            <a:solidFill>
              <a:srgbClr val="00A5FF"/>
            </a:solidFill>
          </a:ln>
          <a:effectLst>
            <a:glow rad="317500">
              <a:srgbClr val="00A5FF">
                <a:alpha val="4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focus-label"/>
          <p:cNvSpPr txBox="1"/>
          <p:nvPr/>
        </p:nvSpPr>
        <p:spPr>
          <a:xfrm>
            <a:off x="8039100" y="2374900"/>
            <a:ext cx="3098800" cy="160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Clinical focus</a:t>
            </a:r>
          </a:p>
        </p:txBody>
      </p:sp>
      <p:sp>
        <p:nvSpPr>
          <p:cNvPr id="21" name="focus-title"/>
          <p:cNvSpPr txBox="1"/>
          <p:nvPr/>
        </p:nvSpPr>
        <p:spPr>
          <a:xfrm>
            <a:off x="8039100" y="2599195"/>
            <a:ext cx="3098800" cy="6724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orporate S"/>
              </a:rPr>
              <a:t>Burns are never caused by the gel.</a:t>
            </a:r>
          </a:p>
        </p:txBody>
      </p:sp>
      <p:sp>
        <p:nvSpPr>
          <p:cNvPr id="22" name="focus-text"/>
          <p:cNvSpPr txBox="1"/>
          <p:nvPr/>
        </p:nvSpPr>
        <p:spPr>
          <a:xfrm>
            <a:off x="8039100" y="3385909"/>
            <a:ext cx="3098800" cy="4970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Rescue: vitamin E or vaseline onto the gingiva — no panic, protocol.</a:t>
            </a:r>
          </a:p>
        </p:txBody>
      </p:sp>
      <p:sp>
        <p:nvSpPr>
          <p:cNvPr id="23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26" name="rail-dot-2-active"/>
          <p:cNvSpPr/>
          <p:nvPr/>
        </p:nvSpPr>
        <p:spPr>
          <a:xfrm>
            <a:off x="336550" y="25654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2</a:t>
            </a:r>
          </a:p>
        </p:txBody>
      </p:sp>
      <p:sp>
        <p:nvSpPr>
          <p:cNvPr id="28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30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32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10 · steps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Fix &amp; The Conversation</a:t>
            </a:r>
          </a:p>
        </p:txBody>
      </p:sp>
      <p:sp>
        <p:nvSpPr>
          <p:cNvPr id="5" name="step-num-1"/>
          <p:cNvSpPr/>
          <p:nvPr/>
        </p:nvSpPr>
        <p:spPr>
          <a:xfrm>
            <a:off x="1524000" y="2095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1</a:t>
            </a:r>
          </a:p>
        </p:txBody>
      </p:sp>
      <p:sp>
        <p:nvSpPr>
          <p:cNvPr id="6" name="step-title-1"/>
          <p:cNvSpPr txBox="1"/>
          <p:nvPr/>
        </p:nvSpPr>
        <p:spPr>
          <a:xfrm>
            <a:off x="2006600" y="2133600"/>
            <a:ext cx="3327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Re-isolate, correctly</a:t>
            </a:r>
          </a:p>
        </p:txBody>
      </p:sp>
      <p:sp>
        <p:nvSpPr>
          <p:cNvPr id="7" name="step-text-1"/>
          <p:cNvSpPr txBox="1"/>
          <p:nvPr/>
        </p:nvSpPr>
        <p:spPr>
          <a:xfrm>
            <a:off x="2006600" y="2476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Rebuild the barrier and confirm the retractor is docked on the lamp head.</a:t>
            </a:r>
          </a:p>
        </p:txBody>
      </p:sp>
      <p:sp>
        <p:nvSpPr>
          <p:cNvPr id="8" name="step-num-2"/>
          <p:cNvSpPr/>
          <p:nvPr/>
        </p:nvSpPr>
        <p:spPr>
          <a:xfrm>
            <a:off x="5524500" y="2095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2</a:t>
            </a:r>
          </a:p>
        </p:txBody>
      </p:sp>
      <p:sp>
        <p:nvSpPr>
          <p:cNvPr id="9" name="step-title-2"/>
          <p:cNvSpPr txBox="1"/>
          <p:nvPr/>
        </p:nvSpPr>
        <p:spPr>
          <a:xfrm>
            <a:off x="6007100" y="2133600"/>
            <a:ext cx="3327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Fresh 1 mm gel</a:t>
            </a:r>
          </a:p>
        </p:txBody>
      </p:sp>
      <p:sp>
        <p:nvSpPr>
          <p:cNvPr id="10" name="step-text-2"/>
          <p:cNvSpPr txBox="1"/>
          <p:nvPr/>
        </p:nvSpPr>
        <p:spPr>
          <a:xfrm>
            <a:off x="6007100" y="2476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Full-thickness layer on the canines and cervical thirds — the lagging zones.</a:t>
            </a:r>
          </a:p>
        </p:txBody>
      </p:sp>
      <p:sp>
        <p:nvSpPr>
          <p:cNvPr id="11" name="step-num-3"/>
          <p:cNvSpPr/>
          <p:nvPr/>
        </p:nvSpPr>
        <p:spPr>
          <a:xfrm>
            <a:off x="1524000" y="3873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3</a:t>
            </a:r>
          </a:p>
        </p:txBody>
      </p:sp>
      <p:sp>
        <p:nvSpPr>
          <p:cNvPr id="12" name="step-title-3"/>
          <p:cNvSpPr txBox="1"/>
          <p:nvPr/>
        </p:nvSpPr>
        <p:spPr>
          <a:xfrm>
            <a:off x="2006600" y="3911600"/>
            <a:ext cx="3327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Spend banked minutes</a:t>
            </a:r>
          </a:p>
        </p:txBody>
      </p:sp>
      <p:sp>
        <p:nvSpPr>
          <p:cNvPr id="13" name="step-text-3"/>
          <p:cNvSpPr txBox="1"/>
          <p:nvPr/>
        </p:nvSpPr>
        <p:spPr>
          <a:xfrm>
            <a:off x="2006600" y="4254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The cycle time the fläshcard saved becomes a targeted touch-up.</a:t>
            </a:r>
          </a:p>
        </p:txBody>
      </p:sp>
      <p:sp>
        <p:nvSpPr>
          <p:cNvPr id="14" name="step-num-4"/>
          <p:cNvSpPr/>
          <p:nvPr/>
        </p:nvSpPr>
        <p:spPr>
          <a:xfrm>
            <a:off x="5524500" y="3873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4</a:t>
            </a:r>
          </a:p>
        </p:txBody>
      </p:sp>
      <p:sp>
        <p:nvSpPr>
          <p:cNvPr id="15" name="step-title-4"/>
          <p:cNvSpPr txBox="1"/>
          <p:nvPr/>
        </p:nvSpPr>
        <p:spPr>
          <a:xfrm>
            <a:off x="6007100" y="3911600"/>
            <a:ext cx="3327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Say the words</a:t>
            </a:r>
          </a:p>
        </p:txBody>
      </p:sp>
      <p:sp>
        <p:nvSpPr>
          <p:cNvPr id="16" name="step-text-4"/>
          <p:cNvSpPr txBox="1"/>
          <p:nvPr/>
        </p:nvSpPr>
        <p:spPr>
          <a:xfrm>
            <a:off x="6007100" y="4254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“The canines are always last. The white areas are temporary.” Book the one-week photo.</a:t>
            </a:r>
          </a:p>
        </p:txBody>
      </p:sp>
      <p:sp>
        <p:nvSpPr>
          <p:cNvPr id="1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11 · 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Oxidation, Not Erosion</a:t>
            </a:r>
          </a:p>
        </p:txBody>
      </p:sp>
      <p:sp>
        <p:nvSpPr>
          <p:cNvPr id="5" name="compare-head-l"/>
          <p:cNvSpPr/>
          <p:nvPr/>
        </p:nvSpPr>
        <p:spPr>
          <a:xfrm>
            <a:off x="1524000" y="2095500"/>
            <a:ext cx="3810000" cy="406400"/>
          </a:xfrm>
          <a:prstGeom prst="roundRect">
            <a:avLst>
              <a:gd name="adj" fmla="val 21875"/>
            </a:avLst>
          </a:prstGeom>
          <a:solidFill>
            <a:srgbClr val="5D6C73"/>
          </a:solidFill>
          <a:ln>
            <a:noFill/>
          </a:ln>
        </p:spPr>
        <p:txBody>
          <a:bodyPr rtlCol="0" anchor="ctr" wrap="square" lIns="177800" rIns="0" tIns="0" bIns="0">
            <a:noAutofit/>
          </a:bodyPr>
          <a:lstStyle/>
          <a:p>
            <a:pPr algn="l"/>
            <a:r>
              <a:rPr sz="1400" b="0" i="0" cap="all" spc="196">
                <a:solidFill>
                  <a:srgbClr val="FFFFFF"/>
                </a:solidFill>
                <a:latin typeface="Corporate S"/>
              </a:rPr>
              <a:t>Myth</a:t>
            </a:r>
          </a:p>
        </p:txBody>
      </p:sp>
      <p:grpSp>
        <p:nvGrpSpPr>
          <p:cNvPr id="6" name="icon-cross-l-1"/>
          <p:cNvGrpSpPr/>
          <p:nvPr/>
        </p:nvGrpSpPr>
        <p:grpSpPr>
          <a:xfrm>
            <a:off x="1569720" y="2814320"/>
            <a:ext cx="137160" cy="137160"/>
            <a:chOff x="1569720" y="2814320"/>
            <a:chExt cx="137160" cy="137160"/>
          </a:xfrm>
        </p:grpSpPr>
        <p:cxnSp>
          <p:nvCxnSpPr>
            <p:cNvPr id="7" name="Connector 6"/>
            <p:cNvCxnSpPr/>
            <p:nvPr/>
          </p:nvCxnSpPr>
          <p:spPr>
            <a:xfrm>
              <a:off x="1569720" y="2814320"/>
              <a:ext cx="137160" cy="137160"/>
            </a:xfrm>
            <a:prstGeom prst="line">
              <a:avLst/>
            </a:prstGeom>
            <a:ln w="27432">
              <a:solidFill>
                <a:srgbClr val="5D6C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H="1">
              <a:off x="1569720" y="2814320"/>
              <a:ext cx="137160" cy="137160"/>
            </a:xfrm>
            <a:prstGeom prst="line">
              <a:avLst/>
            </a:prstGeom>
            <a:ln w="27432">
              <a:solidFill>
                <a:srgbClr val="5D6C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ompare-item-l-1"/>
          <p:cNvSpPr txBox="1"/>
          <p:nvPr/>
        </p:nvSpPr>
        <p:spPr>
          <a:xfrm>
            <a:off x="1879600" y="2730500"/>
            <a:ext cx="34544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Whitening etches the enamel</a:t>
            </a:r>
          </a:p>
        </p:txBody>
      </p:sp>
      <p:grpSp>
        <p:nvGrpSpPr>
          <p:cNvPr id="10" name="icon-cross-l-2"/>
          <p:cNvGrpSpPr/>
          <p:nvPr/>
        </p:nvGrpSpPr>
        <p:grpSpPr>
          <a:xfrm>
            <a:off x="1569720" y="3474720"/>
            <a:ext cx="137160" cy="137160"/>
            <a:chOff x="1569720" y="3474720"/>
            <a:chExt cx="137160" cy="137160"/>
          </a:xfrm>
        </p:grpSpPr>
        <p:cxnSp>
          <p:nvCxnSpPr>
            <p:cNvPr id="11" name="Connector 10"/>
            <p:cNvCxnSpPr/>
            <p:nvPr/>
          </p:nvCxnSpPr>
          <p:spPr>
            <a:xfrm>
              <a:off x="1569720" y="3474720"/>
              <a:ext cx="137160" cy="137160"/>
            </a:xfrm>
            <a:prstGeom prst="line">
              <a:avLst/>
            </a:prstGeom>
            <a:ln w="27432">
              <a:solidFill>
                <a:srgbClr val="5D6C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1569720" y="3474720"/>
              <a:ext cx="137160" cy="137160"/>
            </a:xfrm>
            <a:prstGeom prst="line">
              <a:avLst/>
            </a:prstGeom>
            <a:ln w="27432">
              <a:solidFill>
                <a:srgbClr val="5D6C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ompare-item-l-2"/>
          <p:cNvSpPr txBox="1"/>
          <p:nvPr/>
        </p:nvSpPr>
        <p:spPr>
          <a:xfrm>
            <a:off x="1879600" y="3390900"/>
            <a:ext cx="34544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The lamp works by heating the tooth</a:t>
            </a:r>
          </a:p>
        </p:txBody>
      </p:sp>
      <p:grpSp>
        <p:nvGrpSpPr>
          <p:cNvPr id="14" name="icon-cross-l-3"/>
          <p:cNvGrpSpPr/>
          <p:nvPr/>
        </p:nvGrpSpPr>
        <p:grpSpPr>
          <a:xfrm>
            <a:off x="1569720" y="4135120"/>
            <a:ext cx="137160" cy="137160"/>
            <a:chOff x="1569720" y="4135120"/>
            <a:chExt cx="137160" cy="137160"/>
          </a:xfrm>
        </p:grpSpPr>
        <p:cxnSp>
          <p:nvCxnSpPr>
            <p:cNvPr id="15" name="Connector 14"/>
            <p:cNvCxnSpPr/>
            <p:nvPr/>
          </p:nvCxnSpPr>
          <p:spPr>
            <a:xfrm>
              <a:off x="1569720" y="4135120"/>
              <a:ext cx="137160" cy="137160"/>
            </a:xfrm>
            <a:prstGeom prst="line">
              <a:avLst/>
            </a:prstGeom>
            <a:ln w="27432">
              <a:solidFill>
                <a:srgbClr val="5D6C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1569720" y="4135120"/>
              <a:ext cx="137160" cy="137160"/>
            </a:xfrm>
            <a:prstGeom prst="line">
              <a:avLst/>
            </a:prstGeom>
            <a:ln w="27432">
              <a:solidFill>
                <a:srgbClr val="5D6C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ompare-item-l-3"/>
          <p:cNvSpPr txBox="1"/>
          <p:nvPr/>
        </p:nvSpPr>
        <p:spPr>
          <a:xfrm>
            <a:off x="1879600" y="4051300"/>
            <a:ext cx="34544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Burns come from the gel</a:t>
            </a:r>
          </a:p>
        </p:txBody>
      </p:sp>
      <p:sp>
        <p:nvSpPr>
          <p:cNvPr id="18" name="compare-head-r"/>
          <p:cNvSpPr/>
          <p:nvPr/>
        </p:nvSpPr>
        <p:spPr>
          <a:xfrm>
            <a:off x="5715000" y="2095500"/>
            <a:ext cx="3810000" cy="406400"/>
          </a:xfrm>
          <a:prstGeom prst="roundRect">
            <a:avLst>
              <a:gd name="adj" fmla="val 21875"/>
            </a:avLst>
          </a:prstGeom>
          <a:solidFill>
            <a:srgbClr val="00A5FF"/>
          </a:solidFill>
          <a:ln>
            <a:noFill/>
          </a:ln>
        </p:spPr>
        <p:txBody>
          <a:bodyPr rtlCol="0" anchor="ctr" wrap="square" lIns="177800" rIns="0" tIns="0" bIns="0">
            <a:noAutofit/>
          </a:bodyPr>
          <a:lstStyle/>
          <a:p>
            <a:pPr algn="l"/>
            <a:r>
              <a:rPr sz="1400" b="0" i="0" cap="all" spc="196">
                <a:solidFill>
                  <a:srgbClr val="FFFFFF"/>
                </a:solidFill>
                <a:latin typeface="Corporate S"/>
              </a:rPr>
              <a:t>Fact</a:t>
            </a:r>
          </a:p>
        </p:txBody>
      </p:sp>
      <p:grpSp>
        <p:nvGrpSpPr>
          <p:cNvPr id="19" name="icon-check-r-1"/>
          <p:cNvGrpSpPr/>
          <p:nvPr/>
        </p:nvGrpSpPr>
        <p:grpSpPr>
          <a:xfrm>
            <a:off x="5749290" y="2818892"/>
            <a:ext cx="162306" cy="128016"/>
            <a:chOff x="5749290" y="2818892"/>
            <a:chExt cx="162306" cy="128016"/>
          </a:xfrm>
        </p:grpSpPr>
        <p:cxnSp>
          <p:nvCxnSpPr>
            <p:cNvPr id="20" name="Connector 19"/>
            <p:cNvCxnSpPr/>
            <p:nvPr/>
          </p:nvCxnSpPr>
          <p:spPr>
            <a:xfrm>
              <a:off x="5749290" y="2887472"/>
              <a:ext cx="57150" cy="59436"/>
            </a:xfrm>
            <a:prstGeom prst="line">
              <a:avLst/>
            </a:prstGeom>
            <a:ln w="27432">
              <a:solidFill>
                <a:srgbClr val="00A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V="1">
              <a:off x="5806440" y="2818892"/>
              <a:ext cx="105156" cy="128016"/>
            </a:xfrm>
            <a:prstGeom prst="line">
              <a:avLst/>
            </a:prstGeom>
            <a:ln w="27432">
              <a:solidFill>
                <a:srgbClr val="00A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ompare-item-r-1"/>
          <p:cNvSpPr txBox="1"/>
          <p:nvPr/>
        </p:nvSpPr>
        <p:spPr>
          <a:xfrm>
            <a:off x="6070600" y="2730500"/>
            <a:ext cx="34544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Oxidation of chromogens at neutral pH</a:t>
            </a:r>
          </a:p>
        </p:txBody>
      </p:sp>
      <p:grpSp>
        <p:nvGrpSpPr>
          <p:cNvPr id="23" name="icon-check-r-2"/>
          <p:cNvGrpSpPr/>
          <p:nvPr/>
        </p:nvGrpSpPr>
        <p:grpSpPr>
          <a:xfrm>
            <a:off x="5749290" y="3479292"/>
            <a:ext cx="162306" cy="128016"/>
            <a:chOff x="5749290" y="3479292"/>
            <a:chExt cx="162306" cy="128016"/>
          </a:xfrm>
        </p:grpSpPr>
        <p:cxnSp>
          <p:nvCxnSpPr>
            <p:cNvPr id="24" name="Connector 23"/>
            <p:cNvCxnSpPr/>
            <p:nvPr/>
          </p:nvCxnSpPr>
          <p:spPr>
            <a:xfrm>
              <a:off x="5749290" y="3547872"/>
              <a:ext cx="57150" cy="59436"/>
            </a:xfrm>
            <a:prstGeom prst="line">
              <a:avLst/>
            </a:prstGeom>
            <a:ln w="27432">
              <a:solidFill>
                <a:srgbClr val="00A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5806440" y="3479292"/>
              <a:ext cx="105156" cy="128016"/>
            </a:xfrm>
            <a:prstGeom prst="line">
              <a:avLst/>
            </a:prstGeom>
            <a:ln w="27432">
              <a:solidFill>
                <a:srgbClr val="00A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compare-item-r-2"/>
          <p:cNvSpPr txBox="1"/>
          <p:nvPr/>
        </p:nvSpPr>
        <p:spPr>
          <a:xfrm>
            <a:off x="6070600" y="3390900"/>
            <a:ext cx="34544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Blue 460 nm light, below 39 °C — a photochemical effect</a:t>
            </a:r>
          </a:p>
        </p:txBody>
      </p:sp>
      <p:grpSp>
        <p:nvGrpSpPr>
          <p:cNvPr id="27" name="icon-check-r-3"/>
          <p:cNvGrpSpPr/>
          <p:nvPr/>
        </p:nvGrpSpPr>
        <p:grpSpPr>
          <a:xfrm>
            <a:off x="5749290" y="4139692"/>
            <a:ext cx="162306" cy="128016"/>
            <a:chOff x="5749290" y="4139692"/>
            <a:chExt cx="162306" cy="128016"/>
          </a:xfrm>
        </p:grpSpPr>
        <p:cxnSp>
          <p:nvCxnSpPr>
            <p:cNvPr id="28" name="Connector 27"/>
            <p:cNvCxnSpPr/>
            <p:nvPr/>
          </p:nvCxnSpPr>
          <p:spPr>
            <a:xfrm>
              <a:off x="5749290" y="4208272"/>
              <a:ext cx="57150" cy="59436"/>
            </a:xfrm>
            <a:prstGeom prst="line">
              <a:avLst/>
            </a:prstGeom>
            <a:ln w="27432">
              <a:solidFill>
                <a:srgbClr val="00A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V="1">
              <a:off x="5806440" y="4139692"/>
              <a:ext cx="105156" cy="128016"/>
            </a:xfrm>
            <a:prstGeom prst="line">
              <a:avLst/>
            </a:prstGeom>
            <a:ln w="27432">
              <a:solidFill>
                <a:srgbClr val="00A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mpare-item-r-3"/>
          <p:cNvSpPr txBox="1"/>
          <p:nvPr/>
        </p:nvSpPr>
        <p:spPr>
          <a:xfrm>
            <a:off x="6070600" y="4051300"/>
            <a:ext cx="34544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Burns are never caused by the gel — isolation prevents them</a:t>
            </a:r>
          </a:p>
        </p:txBody>
      </p:sp>
      <p:sp>
        <p:nvSpPr>
          <p:cNvPr id="31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34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36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38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40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42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12 · scale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Value-Ordered Baseline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Determine it together.</a:t>
            </a:r>
          </a:p>
          <a:p>
            <a:pPr lvl="1"/>
            <a:r>
              <a:t>Daylight, teeth still hydrated, the tab in the patient’s own hand.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Enter it into the lamp.</a:t>
            </a:r>
          </a:p>
          <a:p>
            <a:pPr lvl="1"/>
            <a:r>
              <a:t>After treatment it reports the shades gained — a number, not an opinion.</a:t>
            </a:r>
          </a:p>
        </p:txBody>
      </p:sp>
      <p:sp>
        <p:nvSpPr>
          <p:cNvPr id="6" name="scale-chip-1"/>
          <p:cNvSpPr/>
          <p:nvPr/>
        </p:nvSpPr>
        <p:spPr>
          <a:xfrm>
            <a:off x="15240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B1</a:t>
            </a:r>
          </a:p>
        </p:txBody>
      </p:sp>
      <p:sp>
        <p:nvSpPr>
          <p:cNvPr id="7" name="scale-chip-2"/>
          <p:cNvSpPr/>
          <p:nvPr/>
        </p:nvSpPr>
        <p:spPr>
          <a:xfrm>
            <a:off x="21463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A1</a:t>
            </a:r>
          </a:p>
        </p:txBody>
      </p:sp>
      <p:sp>
        <p:nvSpPr>
          <p:cNvPr id="8" name="scale-chip-3"/>
          <p:cNvSpPr/>
          <p:nvPr/>
        </p:nvSpPr>
        <p:spPr>
          <a:xfrm>
            <a:off x="27686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B2</a:t>
            </a:r>
          </a:p>
        </p:txBody>
      </p:sp>
      <p:sp>
        <p:nvSpPr>
          <p:cNvPr id="9" name="scale-chip-4"/>
          <p:cNvSpPr/>
          <p:nvPr/>
        </p:nvSpPr>
        <p:spPr>
          <a:xfrm>
            <a:off x="33909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D2</a:t>
            </a:r>
          </a:p>
        </p:txBody>
      </p:sp>
      <p:sp>
        <p:nvSpPr>
          <p:cNvPr id="10" name="scale-chip-5"/>
          <p:cNvSpPr/>
          <p:nvPr/>
        </p:nvSpPr>
        <p:spPr>
          <a:xfrm>
            <a:off x="40132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A2</a:t>
            </a:r>
          </a:p>
        </p:txBody>
      </p:sp>
      <p:sp>
        <p:nvSpPr>
          <p:cNvPr id="11" name="scale-chip-6"/>
          <p:cNvSpPr/>
          <p:nvPr/>
        </p:nvSpPr>
        <p:spPr>
          <a:xfrm>
            <a:off x="46355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C1</a:t>
            </a:r>
          </a:p>
        </p:txBody>
      </p:sp>
      <p:sp>
        <p:nvSpPr>
          <p:cNvPr id="12" name="scale-chip-7"/>
          <p:cNvSpPr/>
          <p:nvPr/>
        </p:nvSpPr>
        <p:spPr>
          <a:xfrm>
            <a:off x="52578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C2</a:t>
            </a:r>
          </a:p>
        </p:txBody>
      </p:sp>
      <p:sp>
        <p:nvSpPr>
          <p:cNvPr id="13" name="scale-chip-8"/>
          <p:cNvSpPr/>
          <p:nvPr/>
        </p:nvSpPr>
        <p:spPr>
          <a:xfrm>
            <a:off x="58801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D4</a:t>
            </a:r>
          </a:p>
        </p:txBody>
      </p:sp>
      <p:sp>
        <p:nvSpPr>
          <p:cNvPr id="14" name="scale-chip-9"/>
          <p:cNvSpPr/>
          <p:nvPr/>
        </p:nvSpPr>
        <p:spPr>
          <a:xfrm>
            <a:off x="65024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A3</a:t>
            </a:r>
          </a:p>
        </p:txBody>
      </p:sp>
      <p:sp>
        <p:nvSpPr>
          <p:cNvPr id="15" name="scale-chip-10"/>
          <p:cNvSpPr/>
          <p:nvPr/>
        </p:nvSpPr>
        <p:spPr>
          <a:xfrm>
            <a:off x="71247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D3</a:t>
            </a:r>
          </a:p>
        </p:txBody>
      </p:sp>
      <p:sp>
        <p:nvSpPr>
          <p:cNvPr id="16" name="scale-chip-11"/>
          <p:cNvSpPr/>
          <p:nvPr/>
        </p:nvSpPr>
        <p:spPr>
          <a:xfrm>
            <a:off x="77470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B3</a:t>
            </a:r>
          </a:p>
        </p:txBody>
      </p:sp>
      <p:sp>
        <p:nvSpPr>
          <p:cNvPr id="17" name="scale-chip-12"/>
          <p:cNvSpPr/>
          <p:nvPr/>
        </p:nvSpPr>
        <p:spPr>
          <a:xfrm>
            <a:off x="83693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A3.5</a:t>
            </a:r>
          </a:p>
        </p:txBody>
      </p:sp>
      <p:sp>
        <p:nvSpPr>
          <p:cNvPr id="18" name="scale-chip-13"/>
          <p:cNvSpPr/>
          <p:nvPr/>
        </p:nvSpPr>
        <p:spPr>
          <a:xfrm>
            <a:off x="89916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B4</a:t>
            </a:r>
          </a:p>
        </p:txBody>
      </p:sp>
      <p:sp>
        <p:nvSpPr>
          <p:cNvPr id="19" name="scale-chip-14"/>
          <p:cNvSpPr/>
          <p:nvPr/>
        </p:nvSpPr>
        <p:spPr>
          <a:xfrm>
            <a:off x="96139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C3</a:t>
            </a:r>
          </a:p>
        </p:txBody>
      </p:sp>
      <p:sp>
        <p:nvSpPr>
          <p:cNvPr id="20" name="scale-chip-15"/>
          <p:cNvSpPr/>
          <p:nvPr/>
        </p:nvSpPr>
        <p:spPr>
          <a:xfrm>
            <a:off x="102362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A4</a:t>
            </a:r>
          </a:p>
        </p:txBody>
      </p:sp>
      <p:sp>
        <p:nvSpPr>
          <p:cNvPr id="21" name="scale-chip-16"/>
          <p:cNvSpPr/>
          <p:nvPr/>
        </p:nvSpPr>
        <p:spPr>
          <a:xfrm>
            <a:off x="108585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C4</a:t>
            </a:r>
          </a:p>
        </p:txBody>
      </p:sp>
      <p:sp>
        <p:nvSpPr>
          <p:cNvPr id="22" name="scale-caption"/>
          <p:cNvSpPr txBox="1"/>
          <p:nvPr/>
        </p:nvSpPr>
        <p:spPr>
          <a:xfrm>
            <a:off x="1524000" y="3111500"/>
            <a:ext cx="800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Value-ordered shade guide · lightest to darkest</a:t>
            </a:r>
          </a:p>
        </p:txBody>
      </p:sp>
      <p:sp>
        <p:nvSpPr>
          <p:cNvPr id="23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dot-1-active"/>
          <p:cNvSpPr/>
          <p:nvPr/>
        </p:nvSpPr>
        <p:spPr>
          <a:xfrm>
            <a:off x="336550" y="19050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1</a:t>
            </a:r>
          </a:p>
        </p:txBody>
      </p:sp>
      <p:sp>
        <p:nvSpPr>
          <p:cNvPr id="26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8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30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32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34" name="evidence-label"/>
          <p:cNvSpPr txBox="1"/>
          <p:nvPr/>
        </p:nvSpPr>
        <p:spPr>
          <a:xfrm>
            <a:off x="1524000" y="5842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Evidence</a:t>
            </a:r>
          </a:p>
        </p:txBody>
      </p:sp>
      <p:sp>
        <p:nvSpPr>
          <p:cNvPr id="35" name="evidence-text"/>
          <p:cNvSpPr txBox="1"/>
          <p:nvPr/>
        </p:nvSpPr>
        <p:spPr>
          <a:xfrm>
            <a:off x="1524000" y="60198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Joiner A., J Dent 2004</a:t>
            </a:r>
          </a:p>
        </p:txBody>
      </p:sp>
      <p:sp>
        <p:nvSpPr>
          <p:cNvPr id="3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13 · 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SOP Blueprint</a:t>
            </a:r>
          </a:p>
        </p:txBody>
      </p:sp>
      <p:sp>
        <p:nvSpPr>
          <p:cNvPr id="5" name="sum-check-1"/>
          <p:cNvSpPr/>
          <p:nvPr/>
        </p:nvSpPr>
        <p:spPr>
          <a:xfrm>
            <a:off x="1524000" y="209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sum-check-icon-1"/>
          <p:cNvGrpSpPr/>
          <p:nvPr/>
        </p:nvGrpSpPr>
        <p:grpSpPr>
          <a:xfrm>
            <a:off x="1605280" y="2191004"/>
            <a:ext cx="144272" cy="113792"/>
            <a:chOff x="1605280" y="2191004"/>
            <a:chExt cx="144272" cy="113792"/>
          </a:xfrm>
        </p:grpSpPr>
        <p:cxnSp>
          <p:nvCxnSpPr>
            <p:cNvPr id="7" name="Connector 6"/>
            <p:cNvCxnSpPr/>
            <p:nvPr/>
          </p:nvCxnSpPr>
          <p:spPr>
            <a:xfrm>
              <a:off x="1605280" y="225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1656080" y="219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um-title-1"/>
          <p:cNvSpPr txBox="1"/>
          <p:nvPr/>
        </p:nvSpPr>
        <p:spPr>
          <a:xfrm>
            <a:off x="1981200" y="209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Document</a:t>
            </a:r>
          </a:p>
        </p:txBody>
      </p:sp>
      <p:sp>
        <p:nvSpPr>
          <p:cNvPr id="10" name="sum-text-1"/>
          <p:cNvSpPr txBox="1"/>
          <p:nvPr/>
        </p:nvSpPr>
        <p:spPr>
          <a:xfrm>
            <a:off x="1981200" y="243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Clean first, baseline shade in value order, photograph like a scientist.</a:t>
            </a:r>
          </a:p>
        </p:txBody>
      </p:sp>
      <p:sp>
        <p:nvSpPr>
          <p:cNvPr id="11" name="sum-check-2"/>
          <p:cNvSpPr/>
          <p:nvPr/>
        </p:nvSpPr>
        <p:spPr>
          <a:xfrm>
            <a:off x="1524000" y="336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sum-check-icon-2"/>
          <p:cNvGrpSpPr/>
          <p:nvPr/>
        </p:nvGrpSpPr>
        <p:grpSpPr>
          <a:xfrm>
            <a:off x="1605280" y="3461004"/>
            <a:ext cx="144272" cy="113792"/>
            <a:chOff x="1605280" y="3461004"/>
            <a:chExt cx="144272" cy="113792"/>
          </a:xfrm>
        </p:grpSpPr>
        <p:cxnSp>
          <p:nvCxnSpPr>
            <p:cNvPr id="13" name="Connector 12"/>
            <p:cNvCxnSpPr/>
            <p:nvPr/>
          </p:nvCxnSpPr>
          <p:spPr>
            <a:xfrm>
              <a:off x="1605280" y="352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V="1">
              <a:off x="1656080" y="346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sum-title-2"/>
          <p:cNvSpPr txBox="1"/>
          <p:nvPr/>
        </p:nvSpPr>
        <p:spPr>
          <a:xfrm>
            <a:off x="1981200" y="336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Protect</a:t>
            </a:r>
          </a:p>
        </p:txBody>
      </p:sp>
      <p:sp>
        <p:nvSpPr>
          <p:cNvPr id="16" name="sum-text-2"/>
          <p:cNvSpPr txBox="1"/>
          <p:nvPr/>
        </p:nvSpPr>
        <p:spPr>
          <a:xfrm>
            <a:off x="1981200" y="370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Vitamin E or vaseline, correct retractor, goggles, cured barrier — avoid the Seven Sins.</a:t>
            </a:r>
          </a:p>
        </p:txBody>
      </p:sp>
      <p:sp>
        <p:nvSpPr>
          <p:cNvPr id="17" name="sum-check-3"/>
          <p:cNvSpPr/>
          <p:nvPr/>
        </p:nvSpPr>
        <p:spPr>
          <a:xfrm>
            <a:off x="1524000" y="463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sum-check-icon-3"/>
          <p:cNvGrpSpPr/>
          <p:nvPr/>
        </p:nvGrpSpPr>
        <p:grpSpPr>
          <a:xfrm>
            <a:off x="1605280" y="4731004"/>
            <a:ext cx="144272" cy="113792"/>
            <a:chOff x="1605280" y="4731004"/>
            <a:chExt cx="144272" cy="113792"/>
          </a:xfrm>
        </p:grpSpPr>
        <p:cxnSp>
          <p:nvCxnSpPr>
            <p:cNvPr id="19" name="Connector 18"/>
            <p:cNvCxnSpPr/>
            <p:nvPr/>
          </p:nvCxnSpPr>
          <p:spPr>
            <a:xfrm>
              <a:off x="1605280" y="479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V="1">
              <a:off x="1656080" y="473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um-title-3"/>
          <p:cNvSpPr txBox="1"/>
          <p:nvPr/>
        </p:nvSpPr>
        <p:spPr>
          <a:xfrm>
            <a:off x="1981200" y="463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Apply</a:t>
            </a:r>
          </a:p>
        </p:txBody>
      </p:sp>
      <p:sp>
        <p:nvSpPr>
          <p:cNvPr id="22" name="sum-text-3"/>
          <p:cNvSpPr txBox="1"/>
          <p:nvPr/>
        </p:nvSpPr>
        <p:spPr>
          <a:xfrm>
            <a:off x="1981200" y="497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A minimum 1 mm of green gel, working by oxidation at neutral pH.</a:t>
            </a:r>
          </a:p>
        </p:txBody>
      </p:sp>
      <p:sp>
        <p:nvSpPr>
          <p:cNvPr id="23" name="sum-check-4"/>
          <p:cNvSpPr/>
          <p:nvPr/>
        </p:nvSpPr>
        <p:spPr>
          <a:xfrm>
            <a:off x="5588000" y="209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4" name="sum-check-icon-4"/>
          <p:cNvGrpSpPr/>
          <p:nvPr/>
        </p:nvGrpSpPr>
        <p:grpSpPr>
          <a:xfrm>
            <a:off x="5669280" y="2191004"/>
            <a:ext cx="144272" cy="113792"/>
            <a:chOff x="5669280" y="2191004"/>
            <a:chExt cx="144272" cy="113792"/>
          </a:xfrm>
        </p:grpSpPr>
        <p:cxnSp>
          <p:nvCxnSpPr>
            <p:cNvPr id="25" name="Connector 24"/>
            <p:cNvCxnSpPr/>
            <p:nvPr/>
          </p:nvCxnSpPr>
          <p:spPr>
            <a:xfrm>
              <a:off x="5669280" y="225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 flipV="1">
              <a:off x="5720080" y="219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sum-title-4"/>
          <p:cNvSpPr txBox="1"/>
          <p:nvPr/>
        </p:nvSpPr>
        <p:spPr>
          <a:xfrm>
            <a:off x="6045200" y="209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Activate &amp; monitor</a:t>
            </a:r>
          </a:p>
        </p:txBody>
      </p:sp>
      <p:sp>
        <p:nvSpPr>
          <p:cNvPr id="28" name="sum-text-4"/>
          <p:cNvSpPr txBox="1"/>
          <p:nvPr/>
        </p:nvSpPr>
        <p:spPr>
          <a:xfrm>
            <a:off x="6045200" y="243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Lamp locked on the retractor · fläshcard discipline · comfort checkpoints.</a:t>
            </a:r>
          </a:p>
        </p:txBody>
      </p:sp>
      <p:sp>
        <p:nvSpPr>
          <p:cNvPr id="29" name="sum-check-5"/>
          <p:cNvSpPr/>
          <p:nvPr/>
        </p:nvSpPr>
        <p:spPr>
          <a:xfrm>
            <a:off x="5588000" y="336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0" name="sum-check-icon-5"/>
          <p:cNvGrpSpPr/>
          <p:nvPr/>
        </p:nvGrpSpPr>
        <p:grpSpPr>
          <a:xfrm>
            <a:off x="5669280" y="3461004"/>
            <a:ext cx="144272" cy="113792"/>
            <a:chOff x="5669280" y="3461004"/>
            <a:chExt cx="144272" cy="113792"/>
          </a:xfrm>
        </p:grpSpPr>
        <p:cxnSp>
          <p:nvCxnSpPr>
            <p:cNvPr id="31" name="Connector 30"/>
            <p:cNvCxnSpPr/>
            <p:nvPr/>
          </p:nvCxnSpPr>
          <p:spPr>
            <a:xfrm>
              <a:off x="5669280" y="352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5720080" y="346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sum-title-5"/>
          <p:cNvSpPr txBox="1"/>
          <p:nvPr/>
        </p:nvSpPr>
        <p:spPr>
          <a:xfrm>
            <a:off x="6045200" y="336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Seal &amp; instruct</a:t>
            </a:r>
          </a:p>
        </p:txBody>
      </p:sp>
      <p:sp>
        <p:nvSpPr>
          <p:cNvPr id="34" name="sum-text-5"/>
          <p:cNvSpPr txBox="1"/>
          <p:nvPr/>
        </p:nvSpPr>
        <p:spPr>
          <a:xfrm>
            <a:off x="6045200" y="370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Mousse, the aftercare window, the departure gift — identically, every time.</a:t>
            </a:r>
          </a:p>
        </p:txBody>
      </p:sp>
      <p:sp>
        <p:nvSpPr>
          <p:cNvPr id="35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38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40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42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44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7" name="brief-card"/>
          <p:cNvSpPr/>
          <p:nvPr/>
        </p:nvSpPr>
        <p:spPr>
          <a:xfrm>
            <a:off x="952500" y="0"/>
            <a:ext cx="11239500" cy="6858000"/>
          </a:xfrm>
          <a:prstGeom prst="rect">
            <a:avLst/>
          </a:prstGeom>
          <a:solidFill>
            <a:srgbClr val="DEE7EC"/>
          </a:solidFill>
          <a:ln w="12700">
            <a:solidFill>
              <a:srgbClr val="ABB7B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rief-icon"/>
          <p:cNvSpPr/>
          <p:nvPr/>
        </p:nvSpPr>
        <p:spPr>
          <a:xfrm>
            <a:off x="6369050" y="2933700"/>
            <a:ext cx="406400" cy="292100"/>
          </a:xfrm>
          <a:prstGeom prst="roundRect">
            <a:avLst>
              <a:gd name="adj" fmla="val 17391"/>
            </a:avLst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rief-icon-lens"/>
          <p:cNvSpPr/>
          <p:nvPr/>
        </p:nvSpPr>
        <p:spPr>
          <a:xfrm>
            <a:off x="6496050" y="3003550"/>
            <a:ext cx="152400" cy="1524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rief-text"/>
          <p:cNvSpPr txBox="1"/>
          <p:nvPr/>
        </p:nvSpPr>
        <p:spPr>
          <a:xfrm>
            <a:off x="1206500" y="3327400"/>
            <a:ext cx="1073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Isolation complete: lips protected, retractor docked, gingiva barrier cured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14 · photo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Prepare &amp; Protect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Clean, isolate and seal the soft tissue before any gel — the barrier is the treatment.</a:t>
            </a:r>
          </a:p>
        </p:txBody>
      </p:sp>
      <p:sp>
        <p:nvSpPr>
          <p:cNvPr id="11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4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6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8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0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15 · before_after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Identical Setup, Before and After</a:t>
            </a:r>
          </a:p>
        </p:txBody>
      </p:sp>
      <p:sp>
        <p:nvSpPr>
          <p:cNvPr id="9" name="brief-card"/>
          <p:cNvSpPr/>
          <p:nvPr/>
        </p:nvSpPr>
        <p:spPr>
          <a:xfrm>
            <a:off x="1524000" y="2095500"/>
            <a:ext cx="3810000" cy="2540000"/>
          </a:xfrm>
          <a:prstGeom prst="rect">
            <a:avLst/>
          </a:prstGeom>
          <a:solidFill>
            <a:srgbClr val="DEE7EC"/>
          </a:solidFill>
          <a:ln w="12700">
            <a:solidFill>
              <a:srgbClr val="ABB7B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rief-icon"/>
          <p:cNvSpPr/>
          <p:nvPr/>
        </p:nvSpPr>
        <p:spPr>
          <a:xfrm>
            <a:off x="3225800" y="2870200"/>
            <a:ext cx="406400" cy="292100"/>
          </a:xfrm>
          <a:prstGeom prst="roundRect">
            <a:avLst>
              <a:gd name="adj" fmla="val 17391"/>
            </a:avLst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rief-icon-lens"/>
          <p:cNvSpPr/>
          <p:nvPr/>
        </p:nvSpPr>
        <p:spPr>
          <a:xfrm>
            <a:off x="3352800" y="2940050"/>
            <a:ext cx="152400" cy="1524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rief-text"/>
          <p:cNvSpPr txBox="1"/>
          <p:nvPr/>
        </p:nvSpPr>
        <p:spPr>
          <a:xfrm>
            <a:off x="1778000" y="3263900"/>
            <a:ext cx="3302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Baseline shade, identical setup</a:t>
            </a:r>
          </a:p>
        </p:txBody>
      </p:sp>
      <p:sp>
        <p:nvSpPr>
          <p:cNvPr id="13" name="brief-card"/>
          <p:cNvSpPr/>
          <p:nvPr/>
        </p:nvSpPr>
        <p:spPr>
          <a:xfrm>
            <a:off x="5715000" y="2095500"/>
            <a:ext cx="3810000" cy="2540000"/>
          </a:xfrm>
          <a:prstGeom prst="rect">
            <a:avLst/>
          </a:prstGeom>
          <a:solidFill>
            <a:srgbClr val="DEE7EC"/>
          </a:solidFill>
          <a:ln w="12700">
            <a:solidFill>
              <a:srgbClr val="ABB7B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rief-icon"/>
          <p:cNvSpPr/>
          <p:nvPr/>
        </p:nvSpPr>
        <p:spPr>
          <a:xfrm>
            <a:off x="7416800" y="2870200"/>
            <a:ext cx="406400" cy="292100"/>
          </a:xfrm>
          <a:prstGeom prst="roundRect">
            <a:avLst>
              <a:gd name="adj" fmla="val 17391"/>
            </a:avLst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rief-icon-lens"/>
          <p:cNvSpPr/>
          <p:nvPr/>
        </p:nvSpPr>
        <p:spPr>
          <a:xfrm>
            <a:off x="7543800" y="2940050"/>
            <a:ext cx="152400" cy="1524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rief-text"/>
          <p:cNvSpPr txBox="1"/>
          <p:nvPr/>
        </p:nvSpPr>
        <p:spPr>
          <a:xfrm>
            <a:off x="5969000" y="3263900"/>
            <a:ext cx="3302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Final shade, identical setup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Before · baseline shade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After · final shade</a:t>
            </a:r>
          </a:p>
        </p:txBody>
      </p:sp>
      <p:sp>
        <p:nvSpPr>
          <p:cNvPr id="1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16 · photo_annotated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Isolation Setup</a:t>
            </a:r>
          </a:p>
        </p:txBody>
      </p:sp>
      <p:sp>
        <p:nvSpPr>
          <p:cNvPr id="5" name="brief-card"/>
          <p:cNvSpPr/>
          <p:nvPr/>
        </p:nvSpPr>
        <p:spPr>
          <a:xfrm>
            <a:off x="1524000" y="1905000"/>
            <a:ext cx="5715000" cy="3810000"/>
          </a:xfrm>
          <a:prstGeom prst="rect">
            <a:avLst/>
          </a:prstGeom>
          <a:solidFill>
            <a:srgbClr val="DEE7EC"/>
          </a:solidFill>
          <a:ln w="12700">
            <a:solidFill>
              <a:srgbClr val="ABB7B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rief-icon"/>
          <p:cNvSpPr/>
          <p:nvPr/>
        </p:nvSpPr>
        <p:spPr>
          <a:xfrm>
            <a:off x="4178300" y="3314700"/>
            <a:ext cx="406400" cy="292100"/>
          </a:xfrm>
          <a:prstGeom prst="roundRect">
            <a:avLst>
              <a:gd name="adj" fmla="val 17391"/>
            </a:avLst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rief-icon-lens"/>
          <p:cNvSpPr/>
          <p:nvPr/>
        </p:nvSpPr>
        <p:spPr>
          <a:xfrm>
            <a:off x="4305300" y="3384550"/>
            <a:ext cx="152400" cy="1524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rief-text"/>
          <p:cNvSpPr txBox="1"/>
          <p:nvPr/>
        </p:nvSpPr>
        <p:spPr>
          <a:xfrm>
            <a:off x="1778000" y="3708400"/>
            <a:ext cx="5207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Isolation setup</a:t>
            </a:r>
          </a:p>
        </p:txBody>
      </p:sp>
      <p:sp>
        <p:nvSpPr>
          <p:cNvPr id="9" name="marker-1"/>
          <p:cNvSpPr/>
          <p:nvPr/>
        </p:nvSpPr>
        <p:spPr>
          <a:xfrm>
            <a:off x="4229100" y="2438400"/>
            <a:ext cx="304800" cy="304800"/>
          </a:xfrm>
          <a:prstGeom prst="ellipse">
            <a:avLst/>
          </a:prstGeom>
          <a:solidFill>
            <a:srgbClr val="00A5FF"/>
          </a:solidFill>
          <a:ln w="19050">
            <a:solidFill>
              <a:srgbClr val="FFFFFF"/>
            </a:solidFill>
          </a:ln>
          <a:effectLst>
            <a:glow rad="127000">
              <a:srgbClr val="00A5FF">
                <a:alpha val="70000"/>
              </a:srgbClr>
            </a:glow>
          </a:effectLst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1</a:t>
            </a:r>
          </a:p>
        </p:txBody>
      </p:sp>
      <p:sp>
        <p:nvSpPr>
          <p:cNvPr id="10" name="legend-num-1"/>
          <p:cNvSpPr/>
          <p:nvPr/>
        </p:nvSpPr>
        <p:spPr>
          <a:xfrm>
            <a:off x="7620000" y="2082800"/>
            <a:ext cx="279400" cy="2794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1</a:t>
            </a:r>
          </a:p>
        </p:txBody>
      </p:sp>
      <p:sp>
        <p:nvSpPr>
          <p:cNvPr id="11" name="legend-1"/>
          <p:cNvSpPr txBox="1"/>
          <p:nvPr/>
        </p:nvSpPr>
        <p:spPr>
          <a:xfrm>
            <a:off x="8026400" y="2032000"/>
            <a:ext cx="31496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Filtered goggles</a:t>
            </a:r>
          </a:p>
        </p:txBody>
      </p:sp>
      <p:sp>
        <p:nvSpPr>
          <p:cNvPr id="12" name="marker-2"/>
          <p:cNvSpPr/>
          <p:nvPr/>
        </p:nvSpPr>
        <p:spPr>
          <a:xfrm>
            <a:off x="3200400" y="3657600"/>
            <a:ext cx="304800" cy="304800"/>
          </a:xfrm>
          <a:prstGeom prst="ellipse">
            <a:avLst/>
          </a:prstGeom>
          <a:solidFill>
            <a:srgbClr val="00A5FF"/>
          </a:solidFill>
          <a:ln w="19050">
            <a:solidFill>
              <a:srgbClr val="FFFFFF"/>
            </a:solidFill>
          </a:ln>
          <a:effectLst>
            <a:glow rad="127000">
              <a:srgbClr val="00A5FF">
                <a:alpha val="70000"/>
              </a:srgbClr>
            </a:glow>
          </a:effectLst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2</a:t>
            </a:r>
          </a:p>
        </p:txBody>
      </p:sp>
      <p:sp>
        <p:nvSpPr>
          <p:cNvPr id="13" name="legend-num-2"/>
          <p:cNvSpPr/>
          <p:nvPr/>
        </p:nvSpPr>
        <p:spPr>
          <a:xfrm>
            <a:off x="7620000" y="2565400"/>
            <a:ext cx="279400" cy="2794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2</a:t>
            </a:r>
          </a:p>
        </p:txBody>
      </p:sp>
      <p:sp>
        <p:nvSpPr>
          <p:cNvPr id="14" name="legend-2"/>
          <p:cNvSpPr txBox="1"/>
          <p:nvPr/>
        </p:nvSpPr>
        <p:spPr>
          <a:xfrm>
            <a:off x="8026400" y="2514600"/>
            <a:ext cx="31496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Retractor docked on the lamp</a:t>
            </a:r>
          </a:p>
        </p:txBody>
      </p:sp>
      <p:sp>
        <p:nvSpPr>
          <p:cNvPr id="15" name="marker-3"/>
          <p:cNvSpPr/>
          <p:nvPr/>
        </p:nvSpPr>
        <p:spPr>
          <a:xfrm>
            <a:off x="5257800" y="4114800"/>
            <a:ext cx="304800" cy="304800"/>
          </a:xfrm>
          <a:prstGeom prst="ellipse">
            <a:avLst/>
          </a:prstGeom>
          <a:solidFill>
            <a:srgbClr val="00A5FF"/>
          </a:solidFill>
          <a:ln w="19050">
            <a:solidFill>
              <a:srgbClr val="FFFFFF"/>
            </a:solidFill>
          </a:ln>
          <a:effectLst>
            <a:glow rad="127000">
              <a:srgbClr val="00A5FF">
                <a:alpha val="70000"/>
              </a:srgbClr>
            </a:glow>
          </a:effectLst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3</a:t>
            </a:r>
          </a:p>
        </p:txBody>
      </p:sp>
      <p:sp>
        <p:nvSpPr>
          <p:cNvPr id="16" name="legend-num-3"/>
          <p:cNvSpPr/>
          <p:nvPr/>
        </p:nvSpPr>
        <p:spPr>
          <a:xfrm>
            <a:off x="7620000" y="3048000"/>
            <a:ext cx="279400" cy="2794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3</a:t>
            </a:r>
          </a:p>
        </p:txBody>
      </p:sp>
      <p:sp>
        <p:nvSpPr>
          <p:cNvPr id="17" name="legend-3"/>
          <p:cNvSpPr txBox="1"/>
          <p:nvPr/>
        </p:nvSpPr>
        <p:spPr>
          <a:xfrm>
            <a:off x="8026400" y="2997200"/>
            <a:ext cx="31496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Lip protection</a:t>
            </a:r>
          </a:p>
        </p:txBody>
      </p:sp>
      <p:sp>
        <p:nvSpPr>
          <p:cNvPr id="18" name="marker-4"/>
          <p:cNvSpPr/>
          <p:nvPr/>
        </p:nvSpPr>
        <p:spPr>
          <a:xfrm>
            <a:off x="4229100" y="4800600"/>
            <a:ext cx="304800" cy="304800"/>
          </a:xfrm>
          <a:prstGeom prst="ellipse">
            <a:avLst/>
          </a:prstGeom>
          <a:solidFill>
            <a:srgbClr val="00A5FF"/>
          </a:solidFill>
          <a:ln w="19050">
            <a:solidFill>
              <a:srgbClr val="FFFFFF"/>
            </a:solidFill>
          </a:ln>
          <a:effectLst>
            <a:glow rad="127000">
              <a:srgbClr val="00A5FF">
                <a:alpha val="70000"/>
              </a:srgbClr>
            </a:glow>
          </a:effectLst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4</a:t>
            </a:r>
          </a:p>
        </p:txBody>
      </p:sp>
      <p:sp>
        <p:nvSpPr>
          <p:cNvPr id="19" name="legend-num-4"/>
          <p:cNvSpPr/>
          <p:nvPr/>
        </p:nvSpPr>
        <p:spPr>
          <a:xfrm>
            <a:off x="7620000" y="3530600"/>
            <a:ext cx="279400" cy="2794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4</a:t>
            </a:r>
          </a:p>
        </p:txBody>
      </p:sp>
      <p:sp>
        <p:nvSpPr>
          <p:cNvPr id="20" name="legend-4"/>
          <p:cNvSpPr txBox="1"/>
          <p:nvPr/>
        </p:nvSpPr>
        <p:spPr>
          <a:xfrm>
            <a:off x="8026400" y="3479800"/>
            <a:ext cx="31496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Cured gingiva barrier</a:t>
            </a:r>
          </a:p>
        </p:txBody>
      </p:sp>
      <p:sp>
        <p:nvSpPr>
          <p:cNvPr id="21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4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6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8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30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32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17 · case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“The Uneven Case”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A 38-year-old at the end of cycle 3 — centrals magnificent, cervical thirds still yellow, canines two steps behind, chalky patches on the laterals. She is holding the mirror.</a:t>
            </a:r>
          </a:p>
        </p:txBody>
      </p:sp>
      <p:sp>
        <p:nvSpPr>
          <p:cNvPr id="6" name="finding-head"/>
          <p:cNvSpPr txBox="1"/>
          <p:nvPr/>
        </p:nvSpPr>
        <p:spPr>
          <a:xfrm>
            <a:off x="1524000" y="3276600"/>
            <a:ext cx="355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Finding</a:t>
            </a:r>
          </a:p>
        </p:txBody>
      </p:sp>
      <p:sp>
        <p:nvSpPr>
          <p:cNvPr id="7" name="cause-head"/>
          <p:cNvSpPr txBox="1"/>
          <p:nvPr/>
        </p:nvSpPr>
        <p:spPr>
          <a:xfrm>
            <a:off x="5588000" y="3276600"/>
            <a:ext cx="3937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Cause</a:t>
            </a:r>
          </a:p>
        </p:txBody>
      </p:sp>
      <p:sp>
        <p:nvSpPr>
          <p:cNvPr id="8" name="finding-1"/>
          <p:cNvSpPr txBox="1"/>
          <p:nvPr/>
        </p:nvSpPr>
        <p:spPr>
          <a:xfrm>
            <a:off x="1524000" y="35560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Cervical thirds still yellow</a:t>
            </a:r>
          </a:p>
        </p:txBody>
      </p:sp>
      <p:sp>
        <p:nvSpPr>
          <p:cNvPr id="9" name="arrow-1"/>
          <p:cNvSpPr/>
          <p:nvPr/>
        </p:nvSpPr>
        <p:spPr>
          <a:xfrm>
            <a:off x="5207000" y="36830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use-1"/>
          <p:cNvSpPr txBox="1"/>
          <p:nvPr/>
        </p:nvSpPr>
        <p:spPr>
          <a:xfrm>
            <a:off x="5588000" y="35560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Barrier over-extended onto cervical enamel</a:t>
            </a:r>
          </a:p>
        </p:txBody>
      </p:sp>
      <p:sp>
        <p:nvSpPr>
          <p:cNvPr id="11" name="finding-2"/>
          <p:cNvSpPr txBox="1"/>
          <p:nvPr/>
        </p:nvSpPr>
        <p:spPr>
          <a:xfrm>
            <a:off x="1524000" y="40132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Patchy brightness</a:t>
            </a:r>
          </a:p>
        </p:txBody>
      </p:sp>
      <p:sp>
        <p:nvSpPr>
          <p:cNvPr id="12" name="arrow-2"/>
          <p:cNvSpPr/>
          <p:nvPr/>
        </p:nvSpPr>
        <p:spPr>
          <a:xfrm>
            <a:off x="5207000" y="41402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ause-2"/>
          <p:cNvSpPr txBox="1"/>
          <p:nvPr/>
        </p:nvSpPr>
        <p:spPr>
          <a:xfrm>
            <a:off x="5588000" y="40132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Gel layer below 1 mm in zones — Sin #5</a:t>
            </a:r>
          </a:p>
        </p:txBody>
      </p:sp>
      <p:sp>
        <p:nvSpPr>
          <p:cNvPr id="14" name="finding-3"/>
          <p:cNvSpPr txBox="1"/>
          <p:nvPr/>
        </p:nvSpPr>
        <p:spPr>
          <a:xfrm>
            <a:off x="1524000" y="44704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Everything underperforming</a:t>
            </a:r>
          </a:p>
        </p:txBody>
      </p:sp>
      <p:sp>
        <p:nvSpPr>
          <p:cNvPr id="15" name="arrow-3"/>
          <p:cNvSpPr/>
          <p:nvPr/>
        </p:nvSpPr>
        <p:spPr>
          <a:xfrm>
            <a:off x="5207000" y="45974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ause-3"/>
          <p:cNvSpPr txBox="1"/>
          <p:nvPr/>
        </p:nvSpPr>
        <p:spPr>
          <a:xfrm>
            <a:off x="5588000" y="44704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Lamp gap or tilt — 1 cm ≈ −50% power</a:t>
            </a:r>
          </a:p>
        </p:txBody>
      </p:sp>
      <p:sp>
        <p:nvSpPr>
          <p:cNvPr id="17" name="finding-4"/>
          <p:cNvSpPr txBox="1"/>
          <p:nvPr/>
        </p:nvSpPr>
        <p:spPr>
          <a:xfrm>
            <a:off x="1524000" y="49276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Canines two steps behind</a:t>
            </a:r>
          </a:p>
        </p:txBody>
      </p:sp>
      <p:sp>
        <p:nvSpPr>
          <p:cNvPr id="18" name="arrow-4"/>
          <p:cNvSpPr/>
          <p:nvPr/>
        </p:nvSpPr>
        <p:spPr>
          <a:xfrm>
            <a:off x="5207000" y="50546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ause-4"/>
          <p:cNvSpPr txBox="1"/>
          <p:nvPr/>
        </p:nvSpPr>
        <p:spPr>
          <a:xfrm>
            <a:off x="5588000" y="49276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Thicker dentin — biology, not error</a:t>
            </a:r>
          </a:p>
        </p:txBody>
      </p:sp>
      <p:sp>
        <p:nvSpPr>
          <p:cNvPr id="20" name="finding-5"/>
          <p:cNvSpPr txBox="1"/>
          <p:nvPr/>
        </p:nvSpPr>
        <p:spPr>
          <a:xfrm>
            <a:off x="1524000" y="53848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Chalky white patches</a:t>
            </a:r>
          </a:p>
        </p:txBody>
      </p:sp>
      <p:sp>
        <p:nvSpPr>
          <p:cNvPr id="21" name="arrow-5"/>
          <p:cNvSpPr/>
          <p:nvPr/>
        </p:nvSpPr>
        <p:spPr>
          <a:xfrm>
            <a:off x="5207000" y="55118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cause-5"/>
          <p:cNvSpPr txBox="1"/>
          <p:nvPr/>
        </p:nvSpPr>
        <p:spPr>
          <a:xfrm>
            <a:off x="5588000" y="53848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Transient dehydration — not damage</a:t>
            </a:r>
          </a:p>
        </p:txBody>
      </p:sp>
      <p:sp>
        <p:nvSpPr>
          <p:cNvPr id="23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6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8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30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32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18 · quiz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r>
              <a:t>Cervical thirds still yellow after cycle 3 — what is the most likely cause?</a:t>
            </a:r>
          </a:p>
        </p:txBody>
      </p:sp>
      <p:sp>
        <p:nvSpPr>
          <p:cNvPr id="5" name="quiz-opt-1"/>
          <p:cNvSpPr/>
          <p:nvPr/>
        </p:nvSpPr>
        <p:spPr>
          <a:xfrm>
            <a:off x="1524000" y="3048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iz-letter-1"/>
          <p:cNvSpPr/>
          <p:nvPr/>
        </p:nvSpPr>
        <p:spPr>
          <a:xfrm>
            <a:off x="1714500" y="3175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A</a:t>
            </a:r>
          </a:p>
        </p:txBody>
      </p:sp>
      <p:sp>
        <p:nvSpPr>
          <p:cNvPr id="7" name="quiz-text-1"/>
          <p:cNvSpPr txBox="1"/>
          <p:nvPr/>
        </p:nvSpPr>
        <p:spPr>
          <a:xfrm>
            <a:off x="2286000" y="3048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Gel layer below 1 mm</a:t>
            </a:r>
          </a:p>
        </p:txBody>
      </p:sp>
      <p:sp>
        <p:nvSpPr>
          <p:cNvPr id="8" name="quiz-opt-2"/>
          <p:cNvSpPr/>
          <p:nvPr/>
        </p:nvSpPr>
        <p:spPr>
          <a:xfrm>
            <a:off x="1524000" y="3810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quiz-letter-2"/>
          <p:cNvSpPr/>
          <p:nvPr/>
        </p:nvSpPr>
        <p:spPr>
          <a:xfrm>
            <a:off x="1714500" y="3937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B</a:t>
            </a:r>
          </a:p>
        </p:txBody>
      </p:sp>
      <p:sp>
        <p:nvSpPr>
          <p:cNvPr id="10" name="quiz-text-2"/>
          <p:cNvSpPr txBox="1"/>
          <p:nvPr/>
        </p:nvSpPr>
        <p:spPr>
          <a:xfrm>
            <a:off x="2286000" y="3810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Barrier over-extended onto cervical enamel</a:t>
            </a:r>
          </a:p>
        </p:txBody>
      </p:sp>
      <p:sp>
        <p:nvSpPr>
          <p:cNvPr id="11" name="quiz-opt-3"/>
          <p:cNvSpPr/>
          <p:nvPr/>
        </p:nvSpPr>
        <p:spPr>
          <a:xfrm>
            <a:off x="1524000" y="4572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quiz-letter-3"/>
          <p:cNvSpPr/>
          <p:nvPr/>
        </p:nvSpPr>
        <p:spPr>
          <a:xfrm>
            <a:off x="1714500" y="4699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C</a:t>
            </a:r>
          </a:p>
        </p:txBody>
      </p:sp>
      <p:sp>
        <p:nvSpPr>
          <p:cNvPr id="13" name="quiz-text-3"/>
          <p:cNvSpPr txBox="1"/>
          <p:nvPr/>
        </p:nvSpPr>
        <p:spPr>
          <a:xfrm>
            <a:off x="2286000" y="4572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Lamp gap or tilt</a:t>
            </a:r>
          </a:p>
        </p:txBody>
      </p:sp>
      <p:sp>
        <p:nvSpPr>
          <p:cNvPr id="14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7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9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1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3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5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8597A0"/>
                </a:solidFill>
                <a:latin typeface="Corporate S"/>
              </a:rPr>
              <a:t>IN-OFFICE WHITENING WORKFLOW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18 · quiz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r>
              <a:t>Cervical thirds still yellow after cycle 3 — what is the most likely cause?</a:t>
            </a:r>
          </a:p>
        </p:txBody>
      </p:sp>
      <p:sp>
        <p:nvSpPr>
          <p:cNvPr id="5" name="quiz-opt-1"/>
          <p:cNvSpPr/>
          <p:nvPr/>
        </p:nvSpPr>
        <p:spPr>
          <a:xfrm>
            <a:off x="1524000" y="3048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iz-letter-1"/>
          <p:cNvSpPr/>
          <p:nvPr/>
        </p:nvSpPr>
        <p:spPr>
          <a:xfrm>
            <a:off x="1714500" y="3175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A</a:t>
            </a:r>
          </a:p>
        </p:txBody>
      </p:sp>
      <p:sp>
        <p:nvSpPr>
          <p:cNvPr id="7" name="quiz-text-1"/>
          <p:cNvSpPr txBox="1"/>
          <p:nvPr/>
        </p:nvSpPr>
        <p:spPr>
          <a:xfrm>
            <a:off x="2286000" y="3048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Gel layer below 1 mm</a:t>
            </a:r>
          </a:p>
        </p:txBody>
      </p:sp>
      <p:sp>
        <p:nvSpPr>
          <p:cNvPr id="8" name="quiz-opt-2"/>
          <p:cNvSpPr/>
          <p:nvPr/>
        </p:nvSpPr>
        <p:spPr>
          <a:xfrm>
            <a:off x="1524000" y="3810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00A5FF"/>
          </a:solidFill>
          <a:ln>
            <a:noFill/>
          </a:ln>
          <a:effectLst>
            <a:glow rad="317500">
              <a:srgbClr val="00A5FF">
                <a:alpha val="5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quiz-letter-2"/>
          <p:cNvSpPr/>
          <p:nvPr/>
        </p:nvSpPr>
        <p:spPr>
          <a:xfrm>
            <a:off x="1714500" y="39370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1F272B"/>
                </a:solidFill>
                <a:latin typeface="Corporate S"/>
              </a:rPr>
              <a:t>B</a:t>
            </a:r>
          </a:p>
        </p:txBody>
      </p:sp>
      <p:sp>
        <p:nvSpPr>
          <p:cNvPr id="10" name="quiz-text-2"/>
          <p:cNvSpPr txBox="1"/>
          <p:nvPr/>
        </p:nvSpPr>
        <p:spPr>
          <a:xfrm>
            <a:off x="2286000" y="3810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1F272B"/>
                </a:solidFill>
                <a:latin typeface="Corporate S"/>
              </a:rPr>
              <a:t>Barrier over-extended onto cervical enamel</a:t>
            </a:r>
          </a:p>
        </p:txBody>
      </p:sp>
      <p:sp>
        <p:nvSpPr>
          <p:cNvPr id="11" name="quiz-opt-3"/>
          <p:cNvSpPr/>
          <p:nvPr/>
        </p:nvSpPr>
        <p:spPr>
          <a:xfrm>
            <a:off x="1524000" y="4572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quiz-letter-3"/>
          <p:cNvSpPr/>
          <p:nvPr/>
        </p:nvSpPr>
        <p:spPr>
          <a:xfrm>
            <a:off x="1714500" y="4699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C</a:t>
            </a:r>
          </a:p>
        </p:txBody>
      </p:sp>
      <p:sp>
        <p:nvSpPr>
          <p:cNvPr id="13" name="quiz-text-3"/>
          <p:cNvSpPr txBox="1"/>
          <p:nvPr/>
        </p:nvSpPr>
        <p:spPr>
          <a:xfrm>
            <a:off x="2286000" y="4572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Lamp gap or tilt</a:t>
            </a:r>
          </a:p>
        </p:txBody>
      </p:sp>
      <p:sp>
        <p:nvSpPr>
          <p:cNvPr id="14" name="quiz-expl"/>
          <p:cNvSpPr txBox="1"/>
          <p:nvPr/>
        </p:nvSpPr>
        <p:spPr>
          <a:xfrm>
            <a:off x="1524000" y="5588000"/>
            <a:ext cx="800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The barrier covered the cervical enamel — the gel never touched it. Re-isolate correctly, then apply fresh 1 mm gel.</a:t>
            </a:r>
          </a:p>
        </p:txBody>
      </p:sp>
      <p:sp>
        <p:nvSpPr>
          <p:cNvPr id="15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8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0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2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4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8597A0"/>
                </a:solidFill>
                <a:latin typeface="Corporate S"/>
              </a:rPr>
              <a:t>IN-OFFICE WHITENING WORKFLOW ·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äsh Campus">
  <a:themeElements>
    <a:clrScheme name="fläsh Campus">
      <a:dk1>
        <a:srgbClr val="333333"/>
      </a:dk1>
      <a:lt1>
        <a:srgbClr val="FFFFFF"/>
      </a:lt1>
      <a:dk2>
        <a:srgbClr val="1F272B"/>
      </a:dk2>
      <a:lt2>
        <a:srgbClr val="DEE7EC"/>
      </a:lt2>
      <a:accent1>
        <a:srgbClr val="00A5FF"/>
      </a:accent1>
      <a:accent2>
        <a:srgbClr val="5D6C73"/>
      </a:accent2>
      <a:accent3>
        <a:srgbClr val="ABB7BE"/>
      </a:accent3>
      <a:accent4>
        <a:srgbClr val="283237"/>
      </a:accent4>
      <a:accent5>
        <a:srgbClr val="7D8B91"/>
      </a:accent5>
      <a:accent6>
        <a:srgbClr val="C9D4DA"/>
      </a:accent6>
      <a:hlink>
        <a:srgbClr val="00A5FF"/>
      </a:hlink>
      <a:folHlink>
        <a:srgbClr val="5D6C73"/>
      </a:folHlink>
    </a:clrScheme>
    <a:fontScheme name="fläsh Campus">
      <a:majorFont>
        <a:latin typeface="Corporate 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rporate 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