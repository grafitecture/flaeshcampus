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PROFESSIONAL TOOTH WHITENING · MADE IN GERMANY</a:t>
            </a:r>
          </a:p>
          <a:p>
            <a:r>
              <a:t>ONLINE TRAINING SERIES — EPISODE 2</a:t>
            </a:r>
          </a:p>
          <a:p>
            <a:r>
              <a:t>In-Office Whitening Workflow (SOP)</a:t>
            </a:r>
          </a:p>
          <a:p>
            <a:r>
              <a:t>Step-by-Step Protocol + Common Mistakes</a:t>
            </a:r>
          </a:p>
          <a:p>
            <a:r>
              <a:t>Dr. Germán Gómez</a:t>
            </a:r>
          </a:p>
          <a:p>
            <a:r>
              <a:t>DDS · MD · PhD (University of Tübingen, Germany)</a:t>
            </a:r>
          </a:p>
          <a:p>
            <a:r>
              <a:t>Esthetic Dentistry &amp; Implantology · Spain | 500+ lectures · 43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</a:t>
            </a:r>
          </a:p>
          <a:p>
            <a:r>
              <a:t>“My friend had her whitening done here — hers looks incredible. Will mine?”</a:t>
            </a:r>
          </a:p>
          <a:p>
            <a:r>
              <a:t>THE HARD TRUTH</a:t>
            </a:r>
          </a:p>
          <a:p>
            <a:r>
              <a:t>Same gel, same lamp — two clinics, visibly different results. The chemistry never changes between offices. The workflow does.</a:t>
            </a:r>
          </a:p>
          <a:p>
            <a:r>
              <a:t>THE fläsh ANSWER</a:t>
            </a:r>
          </a:p>
          <a:p>
            <a:r>
              <a:t>If the outcome depends on who happens to be working that day, you have a whitening lottery. A strict, standardized protocol ends the lottery.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 · THE BIG IDEA</a:t>
            </a:r>
          </a:p>
          <a:p>
            <a:r>
              <a:t>A Protocol, Not a Performance</a:t>
            </a:r>
          </a:p>
          <a:p>
            <a:r>
              <a:t>Predictable outcomes are engineered — a closed system executed identically, every time.</a:t>
            </a:r>
          </a:p>
          <a:p>
            <a:r>
              <a:t>A closed system. The 32% gel, the Highpower LED lamp and the fläshcard guidance are built to function as one unit.</a:t>
            </a:r>
          </a:p>
          <a:p>
            <a:r>
              <a:t>One standard. Same steps, same order, every patient — the outcome stops depending on who is working today.</a:t>
            </a:r>
          </a:p>
          <a:p>
            <a:r>
              <a:t>Happy patients, every time. An engineering claim, not a slogan — delivered when the human steps are as standardized as the system.</a:t>
            </a:r>
          </a:p>
          <a:p>
            <a:r>
              <a:t>Effortless for the clinical team. The lamp carries the physics, the card carries the clock — your team carries the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</a:t>
            </a:r>
          </a:p>
          <a:p>
            <a:r>
              <a:t>years of German-made whitening expertise — gel, lamp and fläshcard engineered as one closed system · WHITEsmile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 · THE METHOD</a:t>
            </a:r>
          </a:p>
          <a:p>
            <a:r>
              <a:t>The Five-Phase SOP</a:t>
            </a:r>
          </a:p>
          <a:p>
            <a:r>
              <a:t>Every burn, every uneven result, every call-back lives inside one of these five phases.</a:t>
            </a:r>
          </a:p>
          <a:p>
            <a:r>
              <a:t>Document. Clean first, baseline shade in value order, standardized photos.</a:t>
            </a:r>
          </a:p>
          <a:p>
            <a:r>
              <a:t>Protect. Vitamin E or vaseline, correct retractor, goggles, cured barrier.</a:t>
            </a:r>
          </a:p>
          <a:p>
            <a:r>
              <a:t>Apply. A minimum 1 mm of green 32% gel on every facial surface.</a:t>
            </a:r>
          </a:p>
          <a:p>
            <a:r>
              <a:t>Activate &amp; monitor. Lamp locked on the retractor, fläshcard cycles, comfort checkpoints.</a:t>
            </a:r>
          </a:p>
          <a:p>
            <a:r>
              <a:t>Seal &amp; instruct. After Whitening Mousse, final documentation, the aftercare rules.</a:t>
            </a:r>
          </a:p>
          <a:p>
            <a:r>
              <a:t>5 phases in the chairside SOP — same steps, same order, for every single fläsh patient</a:t>
            </a:r>
          </a:p>
          <a:p>
            <a:r>
              <a:t>PRACTICAL STEPS · The Five Phases, Chairside: Document · Protect · Apply · Activate &amp; Monitor · Seal &amp; Instruct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· DOCUMENT</a:t>
            </a:r>
          </a:p>
          <a:p>
            <a:r>
              <a:t>Whitening never begins on an uncleaned tooth.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· DOCUMENT</a:t>
            </a:r>
          </a:p>
          <a:p>
            <a:r>
              <a:t>Clean Before You Whiten</a:t>
            </a:r>
          </a:p>
          <a:p>
            <a:r>
              <a:t>Whitening never begins on an uncleaned tooth.</a:t>
            </a:r>
          </a:p>
          <a:p>
            <a:r>
              <a:t>Prophylaxis first. Always — plaque, calculus and surface stain removed mechanically, before any chemistry.</a:t>
            </a:r>
          </a:p>
          <a:p>
            <a:r>
              <a:t>Cleaning can be enough. If polishing delivers the shade the patient wanted, say so — nothing builds trust faster.</a:t>
            </a:r>
          </a:p>
          <a:p>
            <a:r>
              <a:t>Whitening is not polishing. The gel works deeper in the tooth, by oxidation of chromogens.</a:t>
            </a:r>
          </a:p>
          <a:p>
            <a:r>
              <a:t>Clean enamel, even contact. Your first defense against the uneven result in our mini case.</a:t>
            </a:r>
          </a:p>
          <a:p>
            <a:r>
              <a:t>Image: Professional prophylaxis — before and 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· DOCUMENT</a:t>
            </a:r>
          </a:p>
          <a:p>
            <a:r>
              <a:t>The Value-Ordered Baseline</a:t>
            </a:r>
          </a:p>
          <a:p>
            <a:r>
              <a:t>The patient must see that whiter teeth than their own exist.</a:t>
            </a:r>
          </a:p>
          <a:p>
            <a:r>
              <a:t>Determine it together. Daylight, teeth still hydrated, the tab in the patient’s own hand.</a:t>
            </a:r>
          </a:p>
          <a:p>
            <a:r>
              <a:t>Enter it into the lamp. After treatment the fläsh lamp displays the shades gained — VITA classical and Bleached Guide.</a:t>
            </a:r>
          </a:p>
          <a:p>
            <a:r>
              <a:t>A number, not an opinion. The system reports the improvement — you never have to defend it.</a:t>
            </a:r>
          </a:p>
          <a:p>
            <a:r>
              <a:t>VALUE-ORDERED SHADE GUIDE · lightest → darkest: B1 A1 B2 D2 A2 C1 C2 D4 A3 D3 B3 A3.5 B4 C3 A4 C4</a:t>
            </a:r>
          </a:p>
          <a:p>
            <a:r>
              <a:t>Enter the baseline shade into the fläsh lamp — it counts the shades gained. Evidence: Joiner A. J Dent 2004.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· DOCUMENT</a:t>
            </a:r>
          </a:p>
          <a:p>
            <a:r>
              <a:t>Photograph Like a Scientist</a:t>
            </a:r>
          </a:p>
          <a:p>
            <a:r>
              <a:t>Thirty seconds of photography protects hours of clinical work.</a:t>
            </a:r>
          </a:p>
          <a:p>
            <a:r>
              <a:t>The identical setup. Same camera, same distance and angle, same neutral light — shade tab at the incisal edge.</a:t>
            </a:r>
          </a:p>
          <a:p>
            <a:r>
              <a:t>Motivation. The patient sees objective progress, session after session.</a:t>
            </a:r>
          </a:p>
          <a:p>
            <a:r>
              <a:t>Ethical marketing. Consistent before-and-after pairs, always with written consent.</a:t>
            </a:r>
          </a:p>
          <a:p>
            <a:r>
              <a:t>Protection. If an outcome is ever disputed, your records speak. (Deep dive: Episode 10.)</a:t>
            </a:r>
          </a:p>
          <a:p>
            <a:r>
              <a:t>CLINICAL FOCUS: Consistency is credibility — identical setup, before and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· PROTECT</a:t>
            </a:r>
          </a:p>
          <a:p>
            <a:r>
              <a:t>Where every complication is born — and prevented.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· PROTECT</a:t>
            </a:r>
          </a:p>
          <a:p>
            <a:r>
              <a:t>Soft Tissue First</a:t>
            </a:r>
          </a:p>
          <a:p>
            <a:r>
              <a:t>Where every complication is born — and prevented.</a:t>
            </a:r>
          </a:p>
          <a:p>
            <a:r>
              <a:t>Vitamin E or vaseline on the lips. Moisten the lips first; then the fläsh lip retractor, docked onto the lamp head — that geometry is the treatment.</a:t>
            </a:r>
          </a:p>
          <a:p>
            <a:r>
              <a:t>Filtered eye protection. For the patient and for every team member present.</a:t>
            </a:r>
          </a:p>
          <a:p>
            <a:r>
              <a:t>Gingiva protector, light-cured. Dry gingiva; slight — only slight — overlap onto cervical enamel; cure until solid.</a:t>
            </a:r>
          </a:p>
          <a:p>
            <a:r>
              <a:t>Image: Lamp docked on the lip retractor · filtered goggles. Li &amp; Greenwall, Br Dent J 2013.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· PROTECT</a:t>
            </a:r>
          </a:p>
          <a:p>
            <a:r>
              <a:t>The Seven Sins of Isolation</a:t>
            </a:r>
          </a:p>
          <a:p>
            <a:r>
              <a:t>Memorize them. Laminate them. Audit yourself against them.</a:t>
            </a:r>
          </a:p>
          <a:p>
            <a:r>
              <a:t>1 No lip protection — vitamin E or vaseline</a:t>
            </a:r>
          </a:p>
          <a:p>
            <a:r>
              <a:t>2 Wrong retractor for the system</a:t>
            </a:r>
          </a:p>
          <a:p>
            <a:r>
              <a:t>3 No filtered eye protection</a:t>
            </a:r>
          </a:p>
          <a:p>
            <a:r>
              <a:t>4 Barrier not properly placed or cured</a:t>
            </a:r>
          </a:p>
          <a:p>
            <a:r>
              <a:t>5 Not enough whitening gel (below 1 mm)</a:t>
            </a:r>
          </a:p>
          <a:p>
            <a:r>
              <a:t>6 Patient left unattended — no signal agreed</a:t>
            </a:r>
          </a:p>
          <a:p>
            <a:r>
              <a:t>7 Dentin sensitivity not managed</a:t>
            </a:r>
          </a:p>
          <a:p>
            <a:r>
              <a:t>CLINICAL FOCUS: Burns are never caused by the gel. Rescue: vitamin E or vaseline onto the gingiva — no panic,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· APPLY</a:t>
            </a:r>
          </a:p>
          <a:p>
            <a:r>
              <a:t>The gel is engineered for precision — starve it and you starve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· APPLY</a:t>
            </a:r>
          </a:p>
          <a:p>
            <a:r>
              <a:t>1 mm. Green. Neutral pH.</a:t>
            </a:r>
          </a:p>
          <a:p>
            <a:r>
              <a:t>The gel is engineered for precision — starve it and you starve the result.</a:t>
            </a:r>
          </a:p>
          <a:p>
            <a:r>
              <a:t>Dual-chamber 32% HP. Mix fresh — full potency protected until the moment of mixing.</a:t>
            </a:r>
          </a:p>
          <a:p>
            <a:r>
              <a:t>Green = precision. You see every surface covered — the gel turns clear as oxygen releases.</a:t>
            </a:r>
          </a:p>
          <a:p>
            <a:r>
              <a:t>Oxidation, not erosion. Whitens by oxidation of chromogens at a neutral pH — never by corroding the enamel surface.</a:t>
            </a:r>
          </a:p>
          <a:p>
            <a:r>
              <a:t>Minimum 1 mm, everywhere. A thin, starved layer produces a pale patch — Sin #5.</a:t>
            </a:r>
          </a:p>
          <a:p>
            <a:r>
              <a:t>Image (as in the original slide): Chairside Light Whitening Gel (dual-chamber syringe, mixer) · Gingiva Protector · After Whitening Mousse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· APPLY</a:t>
            </a:r>
          </a:p>
          <a:p>
            <a:r>
              <a:t>The Lamp: Position Is Power</a:t>
            </a:r>
          </a:p>
          <a:p>
            <a:r>
              <a:t>Light intensity falls with the square of distance — respect the physics.</a:t>
            </a:r>
          </a:p>
          <a:p>
            <a:r>
              <a:t>Lock the geometry. Patient at 45°; lamp head easy-locked onto the fläsh retractor — confirm intensity level IIII.</a:t>
            </a:r>
          </a:p>
          <a:p>
            <a:r>
              <a:t>The expensive centimetre. One centimetre of gap costs ≈50% of the power (3² = 9 → 4² = 16).</a:t>
            </a:r>
          </a:p>
          <a:p>
            <a:r>
              <a:t>Complementary-colour activation. Blue 460 nm light is absorbed by the green gel — a photochemical effect, not heat.</a:t>
            </a:r>
          </a:p>
          <a:p>
            <a:r>
              <a:t>Up to 30% lighter, safely. No UV, no infrared, below 39 °C — the light drives the chemistry, it never warms the tooth.</a:t>
            </a:r>
          </a:p>
          <a:p>
            <a:r>
              <a:t>1 cm of extra gap ≈ 50% less light power. Ontiveros &amp; Paravina, J Dent 2009.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· ACTIVATE &amp; MONITOR</a:t>
            </a:r>
          </a:p>
          <a:p>
            <a:r>
              <a:t>Insert the card — and let the system lead your assistant,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· ACTIVATE &amp; MONITOR</a:t>
            </a:r>
          </a:p>
          <a:p>
            <a:r>
              <a:t>The fläshcard Discipline</a:t>
            </a:r>
          </a:p>
          <a:p>
            <a:r>
              <a:t>Insert the card — and let the system lead your assistant, step by step.</a:t>
            </a:r>
          </a:p>
          <a:p>
            <a:r>
              <a:t>3–4 cycles × 15 minutes. The cycle length is not a negotiable estimate — it is the protocol.</a:t>
            </a:r>
          </a:p>
          <a:p>
            <a:r>
              <a:t>Fresh gel between cycles. Suction off the spent gel — never let the patient rinse.</a:t>
            </a:r>
          </a:p>
          <a:p>
            <a:r>
              <a:t>The touchscreen leads. Step-by-step guidance for your assistant, cycle by cycle.</a:t>
            </a:r>
          </a:p>
          <a:p>
            <a:r>
              <a:t>Closed, but flexible. Every remaining minute is banked by the card — those saved minutes become the hero of our mini case.</a:t>
            </a:r>
          </a:p>
          <a:p>
            <a:r>
              <a:t>Image: The fläsh lamp touchscreen guides each cycle — timer, modes, power, guided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 · ACTIVATE &amp; MONITOR</a:t>
            </a:r>
          </a:p>
          <a:p>
            <a:r>
              <a:t>Comfort Checkpoints</a:t>
            </a:r>
          </a:p>
          <a:p>
            <a:r>
              <a:t>A premium experience is monitored — never endured.</a:t>
            </a:r>
          </a:p>
          <a:p>
            <a:r>
              <a:t>Agreed hand signal. Established before the first cycle begins.</a:t>
            </a:r>
          </a:p>
          <a:p>
            <a:r>
              <a:t>Verbal check. At every gel change — ask, don’t assume.</a:t>
            </a:r>
          </a:p>
          <a:p>
            <a:r>
              <a:t>Pulse mode. Cycles 2–3, at the first sign of sensitivity — the dedicated setting exists for this.</a:t>
            </a:r>
          </a:p>
          <a:p>
            <a:r>
              <a:t>Never unattended — Sin #6. The lamp manages the physics; your assistant manages the human being.</a:t>
            </a:r>
          </a:p>
          <a:p>
            <a:r>
              <a:t>CLINICAL FOCUS: “Effortless for the clinical team” — the system carries the clock and the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· SEAL &amp; INSTRUCT</a:t>
            </a:r>
          </a:p>
          <a:p>
            <a:r>
              <a:t>The last ten minutes decide how the first sixty are remembered.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· SEAL &amp; INSTRUCT</a:t>
            </a:r>
          </a:p>
          <a:p>
            <a:r>
              <a:t>Finish Without Undoing It</a:t>
            </a:r>
          </a:p>
          <a:p>
            <a:r>
              <a:t>The last ten minutes decide how the first sixty are remembered.</a:t>
            </a:r>
          </a:p>
          <a:p>
            <a:r>
              <a:t>No rinsing between cycles. Rinsing destroys isolation — suction only.</a:t>
            </a:r>
          </a:p>
          <a:p>
            <a:r>
              <a:t>Gel off, barrier last. Remove all gel completely — protect the tissue until the chemistry is gone.</a:t>
            </a:r>
          </a:p>
          <a:p>
            <a:r>
              <a:t>After Whitening Mousse. Soothes and remineralizes the treated surface.</a:t>
            </a:r>
          </a:p>
          <a:p>
            <a:r>
              <a:t>Final shade &amp; after photos. Value-ordered guide in hand, lamp shows shades gained, identical setup.</a:t>
            </a:r>
          </a:p>
          <a:p>
            <a:r>
              <a:t>CLINICAL FOCUS: This is the moment the mirror does your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 · SEAL &amp; INSTRUCT</a:t>
            </a:r>
          </a:p>
          <a:p>
            <a:r>
              <a:t>The Aftercare Window</a:t>
            </a:r>
          </a:p>
          <a:p>
            <a:r>
              <a:t>What you say in the next sixty seconds decides this week’s phone calls.</a:t>
            </a:r>
          </a:p>
          <a:p>
            <a:r>
              <a:t>The pellicle rebuilds fast. A basal layer forms within minutes; near-full thickness by ~2 hours; maturation over ~18–24 hours in vivo.</a:t>
            </a:r>
          </a:p>
          <a:p>
            <a:r>
              <a:t>Mind the first hours. Not a magic number — the rigid “48-hour” rule is weakly evidenced; make chromogen-light choices while the pellicle re-establishes.</a:t>
            </a:r>
          </a:p>
          <a:p>
            <a:r>
              <a:t>Pre-empt the rebound. Today’s shade is partly dehydration-enhanced; slight settling over days is normal — say it in the chair.</a:t>
            </a:r>
          </a:p>
          <a:p>
            <a:r>
              <a:t>The departure gift. fläsh Whitening Toothpaste with every patient — premium aftercare, your clinic on their shelf.</a:t>
            </a:r>
          </a:p>
          <a:p>
            <a:r>
              <a:t>EVIDENCE: Hannig M. Ultrastructural investigation of pellicle morphogenesis over a 24-h period. Clin Oral Investig. 1999;3(2):88–95.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IN-OFFICE PROCEDURE · STEP BY STEP</a:t>
            </a:r>
          </a:p>
          <a:p>
            <a:r>
              <a:t>Prepare &amp; Protect</a:t>
            </a:r>
          </a:p>
          <a:p>
            <a:r>
              <a:t>Clean, isolate and seal the soft tissue before any gel.</a:t>
            </a:r>
          </a:p>
          <a:p>
            <a:r>
              <a:t>Image: Every complication is prevented here — the barrier is the treatment.</a:t>
            </a:r>
          </a:p>
          <a:p>
            <a:r>
              <a:t>Photos: insert lip retractor · air-dry (new, not in the original) · apply Gingiva Protector.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IN-OFFICE PROCEDURE · STEP BY STEP</a:t>
            </a:r>
          </a:p>
          <a:p>
            <a:r>
              <a:t>Prepare &amp; Protect</a:t>
            </a:r>
          </a:p>
          <a:p>
            <a:r>
              <a:t>Clean, isolate and seal the soft tissue before any gel.</a:t>
            </a:r>
          </a:p>
          <a:p>
            <a:r>
              <a:t>Image: Every complication is prevented here — the barrier is the treatment.</a:t>
            </a:r>
          </a:p>
          <a:p>
            <a:r>
              <a:t>Photos: light-cure Gingiva Protector · check the seal with the mirror (new, not in the original).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IN-OFFICE PROCEDURE · STEP BY STEP</a:t>
            </a:r>
          </a:p>
          <a:p>
            <a:r>
              <a:t>Apply &amp; Activate</a:t>
            </a:r>
          </a:p>
          <a:p>
            <a:r>
              <a:t>A 1 mm layer of green gel, then the Highpower LED — in timed cycles.</a:t>
            </a:r>
          </a:p>
          <a:p>
            <a:r>
              <a:t>Image: Repeat 3× (max 4×) — fresh gel each cycle, suction only, never rinse.</a:t>
            </a:r>
          </a:p>
          <a:p>
            <a:r>
              <a:t>Photo labels in the original: Apply Gel (1 mm thick) · Adjust Whitening Lamp and turn on (15 minutes) · Suck off Gel without rinsing.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IN-OFFICE PROCEDURE · STEP BY STEP</a:t>
            </a:r>
          </a:p>
          <a:p>
            <a:r>
              <a:t>Seal &amp; Finish</a:t>
            </a:r>
          </a:p>
          <a:p>
            <a:r>
              <a:t>Remove, remineralise and document the new shade.</a:t>
            </a:r>
          </a:p>
          <a:p>
            <a:r>
              <a:t>Image: After Whitening Mousse soothes and remineralises — then final shade &amp; photos.</a:t>
            </a:r>
          </a:p>
          <a:p>
            <a:r>
              <a:t>Photo labels in the original: Rinse off residual gel with water · Remove Gingiva Protector · Apply After Whitening Mousse.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 CASE</a:t>
            </a:r>
          </a:p>
          <a:p>
            <a:r>
              <a:t>“The Uneven Case”</a:t>
            </a:r>
          </a:p>
          <a:p>
            <a:r>
              <a:t>A 38-year-old at the end of cycle 3 — centrals magnificent, cervical thirds still yellow, canines two steps behind, chalky patches on the laterals. She is holding the mirror.</a:t>
            </a:r>
          </a:p>
          <a:p>
            <a:r>
              <a:t>MINI CASE · DIAGNOSE</a:t>
            </a:r>
          </a:p>
          <a:p>
            <a:r>
              <a:t>The Troubleshooting Checklist</a:t>
            </a:r>
          </a:p>
          <a:p>
            <a:r>
              <a:t>Run the checklist — never guess in front of the patient.</a:t>
            </a:r>
          </a:p>
          <a:p>
            <a:r>
              <a:t>Cervical thirds still yellow. Barrier over-extended onto cervical enamel — the gel never touched it.</a:t>
            </a:r>
          </a:p>
          <a:p>
            <a:r>
              <a:t>Patchy brightness. Gel layer below 1 mm in zones — Sin #5.</a:t>
            </a:r>
          </a:p>
          <a:p>
            <a:r>
              <a:t>Everything underperforming. Lamp gap or tilt — remember: 1 cm ≈ −50% power.</a:t>
            </a:r>
          </a:p>
          <a:p>
            <a:r>
              <a:t>Biology, not error. Canines (thicker dentin) are always slowest; chalky patches are transient dehydration over hypocalcifications.</a:t>
            </a:r>
          </a:p>
          <a:p>
            <a:r>
              <a:t>Chalky white patches. transient dehydration revealing hypocalcifications (not damage)</a:t>
            </a:r>
          </a:p>
          <a:p>
            <a:r>
              <a:t>CLINICAL FOCUS: Five findings. Five causes. Zero mystery.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 CASE · RESOLVE</a:t>
            </a:r>
          </a:p>
          <a:p>
            <a:r>
              <a:t>The Fix &amp; The Conversation</a:t>
            </a:r>
          </a:p>
          <a:p>
            <a:r>
              <a:t>1 Re-isolate, correctly. Rebuild the barrier properly and confirm the retractor is docked on the lamp head.</a:t>
            </a:r>
          </a:p>
          <a:p>
            <a:r>
              <a:t>2 Fresh 1 mm gel. Full-thickness layer on the canines and cervical thirds — the lagging zones.</a:t>
            </a:r>
          </a:p>
          <a:p>
            <a:r>
              <a:t>3 Spend banked minutes. The cycle time the fläshcard saved becomes a targeted touch-up — the closed-but-flexible system pays you back.</a:t>
            </a:r>
          </a:p>
          <a:p>
            <a:r>
              <a:t>4 Say the words. “The canines are always last — normal biology. The white areas are temporary dehydration.” Book the one-week photo before she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check from the mini case (source slide 21, Troubleshooting Checklist). Let the viewers decide before the answer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barrier covered the cervical enamel — the gel never touched it. Re-isolate correctly, then apply fresh 1 mm gel.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+ NEXT ACTION</a:t>
            </a:r>
          </a:p>
          <a:p>
            <a:r>
              <a:t>The SOP Blueprint</a:t>
            </a:r>
          </a:p>
          <a:p>
            <a:r>
              <a:t>Document. Clean first, baseline shade in value order, photograph like a scientist.</a:t>
            </a:r>
          </a:p>
          <a:p>
            <a:r>
              <a:t>Protect. Vitamin E or vaseline, the correct retractor, goggles, a cured barrier — avoid the Seven Sins.</a:t>
            </a:r>
          </a:p>
          <a:p>
            <a:r>
              <a:t>Apply. A minimum 1 mm of green gel, working by oxidation at neutral pH.</a:t>
            </a:r>
          </a:p>
          <a:p>
            <a:r>
              <a:t>Activate &amp; monitor. Lamp locked on the retractor · fläshcard discipline · comfort checkpoints.</a:t>
            </a:r>
          </a:p>
          <a:p>
            <a:r>
              <a:t>Seal &amp; instruct. Mousse, the aftercare window, the departure gift — identically,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ACTION · THIS WEEK, NOT THIS QUARTER</a:t>
            </a:r>
          </a:p>
          <a:p>
            <a:r>
              <a:t>Make It Your Team’s Reflex</a:t>
            </a:r>
          </a:p>
          <a:p>
            <a:r>
              <a:t>1 Run one full dry run. No patient in the chair — your assistant drives the fläshcard from start to finish.</a:t>
            </a:r>
          </a:p>
          <a:p>
            <a:r>
              <a:t>2 Appoint an SOP owner. One team member owns this protocol — and audits the clinic against it.</a:t>
            </a:r>
          </a:p>
          <a:p>
            <a:r>
              <a:t>3 Laminate the phases. Visible chairside, right next to the Seven Sins of Improper Isolation.</a:t>
            </a:r>
          </a:p>
          <a:p>
            <a:r>
              <a:t>4 Up next — Episode 3. Sensitivity Prevention &amp; Management: preventing it, managing it, and the call that turns a complaint into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Title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4864100" y="-1397000"/>
            <a:ext cx="9652000" cy="9652000"/>
          </a:xfrm>
          <a:prstGeom prst="ellipse">
            <a:avLst/>
          </a:prstGeom>
          <a:gradFill rotWithShape="1">
            <a:gsLst>
              <a:gs pos="0">
                <a:srgbClr val="00A5FF">
                  <a:alpha val="34000"/>
                </a:srgbClr>
              </a:gs>
              <a:gs pos="50000">
                <a:srgbClr val="00A5FF">
                  <a:alpha val="10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-1"/>
          <p:cNvSpPr/>
          <p:nvPr/>
        </p:nvSpPr>
        <p:spPr>
          <a:xfrm>
            <a:off x="7150100" y="889000"/>
            <a:ext cx="5080000" cy="5080000"/>
          </a:xfrm>
          <a:prstGeom prst="ellipse">
            <a:avLst/>
          </a:prstGeom>
          <a:noFill/>
          <a:ln w="12700">
            <a:solidFill>
              <a:srgbClr val="00A5FF">
                <a:alpha val="2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-2"/>
          <p:cNvSpPr/>
          <p:nvPr/>
        </p:nvSpPr>
        <p:spPr>
          <a:xfrm>
            <a:off x="6578600" y="317500"/>
            <a:ext cx="6223000" cy="6223000"/>
          </a:xfrm>
          <a:prstGeom prst="ellipse">
            <a:avLst/>
          </a:prstGeom>
          <a:noFill/>
          <a:ln w="12700">
            <a:solidFill>
              <a:srgbClr val="00A5FF">
                <a:alpha val="14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7" name="cover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609600"/>
            <a:ext cx="1270000" cy="539750"/>
          </a:xfrm>
          <a:prstGeom prst="rect">
            <a:avLst/>
          </a:prstGeom>
        </p:spPr>
      </p:pic>
      <p:sp>
        <p:nvSpPr>
          <p:cNvPr id="8" name="cover-campus"/>
          <p:cNvSpPr txBox="1"/>
          <p:nvPr/>
        </p:nvSpPr>
        <p:spPr>
          <a:xfrm>
            <a:off x="2870200" y="685800"/>
            <a:ext cx="2032000" cy="508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900" b="0" i="0">
                <a:solidFill>
                  <a:srgbClr val="00A5FF"/>
                </a:solidFill>
                <a:latin typeface="Corporate S"/>
              </a:rPr>
              <a:t>Campus</a:t>
            </a:r>
          </a:p>
        </p:txBody>
      </p:sp>
      <p:sp>
        <p:nvSpPr>
          <p:cNvPr id="9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" name="Kicker"/>
          <p:cNvSpPr>
            <a:spLocks noGrp="1"/>
          </p:cNvSpPr>
          <p:nvPr>
            <p:ph type="body" idx="11" hasCustomPrompt="1"/>
          </p:nvPr>
        </p:nvSpPr>
        <p:spPr>
          <a:xfrm>
            <a:off x="1460500" y="2260600"/>
            <a:ext cx="622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Online Training · Episode 00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hasCustomPrompt="1"/>
          </p:nvPr>
        </p:nvSpPr>
        <p:spPr>
          <a:xfrm>
            <a:off x="1435100" y="2565400"/>
            <a:ext cx="6096000" cy="146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2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title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2" hasCustomPrompt="1"/>
          </p:nvPr>
        </p:nvSpPr>
        <p:spPr>
          <a:xfrm>
            <a:off x="1460500" y="4152900"/>
            <a:ext cx="520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Subtitle of the episode</a:t>
            </a:r>
          </a:p>
        </p:txBody>
      </p:sp>
      <p:sp>
        <p:nvSpPr>
          <p:cNvPr id="13" name="Presenter"/>
          <p:cNvSpPr>
            <a:spLocks noGrp="1"/>
          </p:cNvSpPr>
          <p:nvPr>
            <p:ph type="body" idx="13" hasCustomPrompt="1"/>
          </p:nvPr>
        </p:nvSpPr>
        <p:spPr>
          <a:xfrm>
            <a:off x="1460500" y="5562600"/>
            <a:ext cx="635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Dr. Germán Gómez</a:t>
            </a:r>
          </a:p>
        </p:txBody>
      </p:sp>
      <p:sp>
        <p:nvSpPr>
          <p:cNvPr id="14" name="Credentials"/>
          <p:cNvSpPr>
            <a:spLocks noGrp="1"/>
          </p:cNvSpPr>
          <p:nvPr>
            <p:ph type="body" idx="14" hasCustomPrompt="1"/>
          </p:nvPr>
        </p:nvSpPr>
        <p:spPr>
          <a:xfrm>
            <a:off x="1460500" y="59055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Credentials</a:t>
            </a:r>
          </a:p>
        </p:txBody>
      </p:sp>
      <p:sp>
        <p:nvSpPr>
          <p:cNvPr id="15" name="Photo"/>
          <p:cNvSpPr>
            <a:spLocks noGrp="1"/>
          </p:cNvSpPr>
          <p:nvPr>
            <p:ph type="pic" idx="15" hasCustomPrompt="1"/>
          </p:nvPr>
        </p:nvSpPr>
        <p:spPr>
          <a:xfrm>
            <a:off x="7848600" y="1587500"/>
            <a:ext cx="3683000" cy="3683000"/>
          </a:xfrm>
          <a:prstGeom prst="ellipse">
            <a:avLst/>
          </a:prstGeom>
          <a:solidFill>
            <a:srgbClr val="DEE7EC"/>
          </a:solidFill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portrait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 Chapter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-bg"/>
          <p:cNvSpPr/>
          <p:nvPr/>
        </p:nvSpPr>
        <p:spPr>
          <a:xfrm>
            <a:off x="-381000" y="-1270000"/>
            <a:ext cx="7874000" cy="7874000"/>
          </a:xfrm>
          <a:prstGeom prst="ellipse">
            <a:avLst/>
          </a:prstGeom>
          <a:gradFill rotWithShape="1">
            <a:gsLst>
              <a:gs pos="0">
                <a:srgbClr val="00A5FF">
                  <a:alpha val="26000"/>
                </a:srgbClr>
              </a:gs>
              <a:gs pos="50000">
                <a:srgbClr val="00A5FF">
                  <a:alpha val="8000"/>
                </a:srgbClr>
              </a:gs>
              <a:gs pos="100000">
                <a:srgbClr val="00A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5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6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7" name="Number"/>
          <p:cNvSpPr>
            <a:spLocks noGrp="1"/>
          </p:cNvSpPr>
          <p:nvPr>
            <p:ph type="body" idx="16" hasCustomPrompt="1"/>
          </p:nvPr>
        </p:nvSpPr>
        <p:spPr>
          <a:xfrm>
            <a:off x="1460500" y="127000"/>
            <a:ext cx="3556000" cy="558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0000" b="0" i="0">
                <a:solidFill>
                  <a:srgbClr val="00A5FF"/>
                </a:solidFill>
                <a:effectLst>
                  <a:glow rad="508000">
                    <a:srgbClr val="00A5FF">
                      <a:alpha val="65000"/>
                    </a:srgbClr>
                  </a:glow>
                </a:effectLst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5080000" y="20955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of 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 hasCustomPrompt="1"/>
          </p:nvPr>
        </p:nvSpPr>
        <p:spPr>
          <a:xfrm>
            <a:off x="5029200" y="2387600"/>
            <a:ext cx="635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5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Chapter</a:t>
            </a:r>
          </a:p>
        </p:txBody>
      </p:sp>
      <p:sp>
        <p:nvSpPr>
          <p:cNvPr id="10" name="Line"/>
          <p:cNvSpPr>
            <a:spLocks noGrp="1"/>
          </p:cNvSpPr>
          <p:nvPr>
            <p:ph type="body" idx="17" hasCustomPrompt="1"/>
          </p:nvPr>
        </p:nvSpPr>
        <p:spPr>
          <a:xfrm>
            <a:off x="5080000" y="3746500"/>
            <a:ext cx="4445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3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One sentence about this chapter.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 Hook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truth-card"/>
          <p:cNvSpPr/>
          <p:nvPr/>
        </p:nvSpPr>
        <p:spPr>
          <a:xfrm>
            <a:off x="1524000" y="3302000"/>
            <a:ext cx="3810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nswer-card"/>
          <p:cNvSpPr/>
          <p:nvPr/>
        </p:nvSpPr>
        <p:spPr>
          <a:xfrm>
            <a:off x="5588000" y="3302000"/>
            <a:ext cx="3937000" cy="2286000"/>
          </a:xfrm>
          <a:prstGeom prst="roundRect">
            <a:avLst>
              <a:gd name="adj" fmla="val 5000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8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9" name="Quote"/>
          <p:cNvSpPr>
            <a:spLocks noGrp="1"/>
          </p:cNvSpPr>
          <p:nvPr>
            <p:ph type="body" idx="18" hasCustomPrompt="1"/>
          </p:nvPr>
        </p:nvSpPr>
        <p:spPr>
          <a:xfrm>
            <a:off x="1524000" y="1079500"/>
            <a:ext cx="8255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question your patient asks</a:t>
            </a:r>
          </a:p>
        </p:txBody>
      </p:sp>
      <p:sp>
        <p:nvSpPr>
          <p:cNvPr id="10" name="TruthLabel"/>
          <p:cNvSpPr>
            <a:spLocks noGrp="1"/>
          </p:cNvSpPr>
          <p:nvPr>
            <p:ph type="body" idx="19" hasCustomPrompt="1"/>
          </p:nvPr>
        </p:nvSpPr>
        <p:spPr>
          <a:xfrm>
            <a:off x="1841500" y="3556000"/>
            <a:ext cx="317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ABB7BE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hard truth</a:t>
            </a:r>
          </a:p>
        </p:txBody>
      </p:sp>
      <p:sp>
        <p:nvSpPr>
          <p:cNvPr id="11" name="TruthText"/>
          <p:cNvSpPr>
            <a:spLocks noGrp="1"/>
          </p:cNvSpPr>
          <p:nvPr>
            <p:ph type="body" idx="20" hasCustomPrompt="1"/>
          </p:nvPr>
        </p:nvSpPr>
        <p:spPr>
          <a:xfrm>
            <a:off x="1841500" y="3873500"/>
            <a:ext cx="3175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really happens.</a:t>
            </a:r>
          </a:p>
        </p:txBody>
      </p:sp>
      <p:sp>
        <p:nvSpPr>
          <p:cNvPr id="12" name="AnswerLabel"/>
          <p:cNvSpPr>
            <a:spLocks noGrp="1"/>
          </p:cNvSpPr>
          <p:nvPr>
            <p:ph type="body" idx="21" hasCustomPrompt="1"/>
          </p:nvPr>
        </p:nvSpPr>
        <p:spPr>
          <a:xfrm>
            <a:off x="5905500" y="35560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fläsh answer</a:t>
            </a:r>
          </a:p>
        </p:txBody>
      </p:sp>
      <p:sp>
        <p:nvSpPr>
          <p:cNvPr id="13" name="AnswerText"/>
          <p:cNvSpPr>
            <a:spLocks noGrp="1"/>
          </p:cNvSpPr>
          <p:nvPr>
            <p:ph type="body" idx="22" hasCustomPrompt="1"/>
          </p:nvPr>
        </p:nvSpPr>
        <p:spPr>
          <a:xfrm>
            <a:off x="5905500" y="38735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How the protocol solves it.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Closing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next-card"/>
          <p:cNvSpPr/>
          <p:nvPr/>
        </p:nvSpPr>
        <p:spPr>
          <a:xfrm>
            <a:off x="7493000" y="2095500"/>
            <a:ext cx="3937000" cy="2095500"/>
          </a:xfrm>
          <a:prstGeom prst="roundRect">
            <a:avLst>
              <a:gd name="adj" fmla="val 5454"/>
            </a:avLst>
          </a:prstGeom>
          <a:solidFill>
            <a:srgbClr val="283237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NextLabel"/>
          <p:cNvSpPr>
            <a:spLocks noGrp="1"/>
          </p:cNvSpPr>
          <p:nvPr>
            <p:ph type="body" idx="23" hasCustomPrompt="1"/>
          </p:nvPr>
        </p:nvSpPr>
        <p:spPr>
          <a:xfrm>
            <a:off x="7810500" y="23495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" b="0" i="0" cap="all" spc="17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Up next</a:t>
            </a:r>
          </a:p>
        </p:txBody>
      </p:sp>
      <p:sp>
        <p:nvSpPr>
          <p:cNvPr id="10" name="NextTitle"/>
          <p:cNvSpPr>
            <a:spLocks noGrp="1"/>
          </p:cNvSpPr>
          <p:nvPr>
            <p:ph type="body" idx="24" hasCustomPrompt="1"/>
          </p:nvPr>
        </p:nvSpPr>
        <p:spPr>
          <a:xfrm>
            <a:off x="7810500" y="26035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Episode 00 · Title</a:t>
            </a:r>
          </a:p>
        </p:txBody>
      </p:sp>
      <p:sp>
        <p:nvSpPr>
          <p:cNvPr id="11" name="NextText"/>
          <p:cNvSpPr>
            <a:spLocks noGrp="1"/>
          </p:cNvSpPr>
          <p:nvPr>
            <p:ph type="body" idx="25" hasCustomPrompt="1"/>
          </p:nvPr>
        </p:nvSpPr>
        <p:spPr>
          <a:xfrm>
            <a:off x="7810500" y="3429000"/>
            <a:ext cx="330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What the next episode covers.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Poin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8001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Points +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  <p:sp>
        <p:nvSpPr>
          <p:cNvPr id="9" name="Photo"/>
          <p:cNvSpPr>
            <a:spLocks noGrp="1"/>
          </p:cNvSpPr>
          <p:nvPr>
            <p:ph type="pic" idx="15" hasCustomPrompt="1"/>
          </p:nvPr>
        </p:nvSpPr>
        <p:spPr>
          <a:xfrm>
            <a:off x="6350000" y="1905000"/>
            <a:ext cx="508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27" hasCustomPrompt="1"/>
          </p:nvPr>
        </p:nvSpPr>
        <p:spPr>
          <a:xfrm>
            <a:off x="6350000" y="45212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caption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 Points +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2095500"/>
            <a:ext cx="4445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Sta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Big"/>
          <p:cNvSpPr>
            <a:spLocks noGrp="1"/>
          </p:cNvSpPr>
          <p:nvPr>
            <p:ph type="body" idx="28" hasCustomPrompt="1"/>
          </p:nvPr>
        </p:nvSpPr>
        <p:spPr>
          <a:xfrm>
            <a:off x="1524000" y="1270000"/>
            <a:ext cx="825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6000" b="0" i="0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30</a:t>
            </a:r>
          </a:p>
        </p:txBody>
      </p:sp>
      <p:sp>
        <p:nvSpPr>
          <p:cNvPr id="8" name="Statement"/>
          <p:cNvSpPr>
            <a:spLocks noGrp="1"/>
          </p:cNvSpPr>
          <p:nvPr>
            <p:ph type="body" idx="29" hasCustomPrompt="1"/>
          </p:nvPr>
        </p:nvSpPr>
        <p:spPr>
          <a:xfrm>
            <a:off x="1524000" y="35560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Statement in one or two lines</a:t>
            </a:r>
          </a:p>
        </p:txBody>
      </p:sp>
      <p:sp>
        <p:nvSpPr>
          <p:cNvPr id="9" name="Text"/>
          <p:cNvSpPr>
            <a:spLocks noGrp="1"/>
          </p:cNvSpPr>
          <p:nvPr>
            <p:ph type="body" idx="30" hasCustomPrompt="1"/>
          </p:nvPr>
        </p:nvSpPr>
        <p:spPr>
          <a:xfrm>
            <a:off x="1524000" y="4635500"/>
            <a:ext cx="7620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Supporting sentence.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Check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Sca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oints"/>
          <p:cNvSpPr>
            <a:spLocks noGrp="1"/>
          </p:cNvSpPr>
          <p:nvPr>
            <p:ph type="body" idx="26" hasCustomPrompt="1"/>
          </p:nvPr>
        </p:nvSpPr>
        <p:spPr>
          <a:xfrm>
            <a:off x="1524000" y="3556000"/>
            <a:ext cx="8001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508000" indent="-508000" algn="l">
              <a:spcBef>
                <a:spcPts val="2200"/>
              </a:spcBef>
              <a:spcAft>
                <a:spcPts val="0"/>
              </a:spcAft>
              <a:buNone/>
              <a:tabLst>
                <a:tab pos="508000" algn="l"/>
              </a:tabLst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  <a:lvl2pPr marL="508000" indent="0" algn="l">
              <a:spcBef>
                <a:spcPts val="600"/>
              </a:spcBef>
              <a:spcAft>
                <a:spcPts val="0"/>
              </a:spcAft>
              <a:buNone/>
              <a:defRPr sz="1700" b="0" i="0">
                <a:solidFill>
                  <a:srgbClr val="333333"/>
                </a:solidFill>
                <a:latin typeface="Corporate S"/>
                <a:ea typeface="Corporate S"/>
                <a:cs typeface="Corporate S"/>
              </a:defRPr>
            </a:lvl2pPr>
          </a:lstStyle>
          <a:p>
            <a:r>
              <a:rPr lang="en-US" dirty="0"/>
              <a:t>01	Point title</a:t>
            </a:r>
          </a:p>
          <a:p>
            <a:pPr lvl="1"/>
            <a:r>
              <a:rPr lang="en-US" dirty="0"/>
              <a:t>Short explanation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Photo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Photo"/>
          <p:cNvSpPr>
            <a:spLocks noGrp="1"/>
          </p:cNvSpPr>
          <p:nvPr>
            <p:ph type="pic" idx="15" hasCustomPrompt="1"/>
          </p:nvPr>
        </p:nvSpPr>
        <p:spPr>
          <a:xfrm>
            <a:off x="952500" y="0"/>
            <a:ext cx="11239500" cy="6858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7" name="Kicker"/>
          <p:cNvSpPr>
            <a:spLocks noGrp="1"/>
          </p:cNvSpPr>
          <p:nvPr>
            <p:ph type="body" idx="11" hasCustomPrompt="1"/>
          </p:nvPr>
        </p:nvSpPr>
        <p:spPr>
          <a:xfrm>
            <a:off x="1206500" y="4953000"/>
            <a:ext cx="8255000" cy="3937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1397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Step by step</a:t>
            </a:r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1206500" y="5334000"/>
            <a:ext cx="8255000" cy="7112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38100" rIns="25400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Photo title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27" hasCustomPrompt="1"/>
          </p:nvPr>
        </p:nvSpPr>
        <p:spPr>
          <a:xfrm>
            <a:off x="1206500" y="6032500"/>
            <a:ext cx="8255000" cy="5715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wrap="square" lIns="254000" tIns="0" rIns="254000" bIns="11430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C9D4DA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Caption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Before / Af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hotoBefore"/>
          <p:cNvSpPr>
            <a:spLocks noGrp="1"/>
          </p:cNvSpPr>
          <p:nvPr>
            <p:ph type="pic" idx="31" hasCustomPrompt="1"/>
          </p:nvPr>
        </p:nvSpPr>
        <p:spPr>
          <a:xfrm>
            <a:off x="1524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PhotoAfter"/>
          <p:cNvSpPr>
            <a:spLocks noGrp="1"/>
          </p:cNvSpPr>
          <p:nvPr>
            <p:ph type="pic" idx="32" hasCustomPrompt="1"/>
          </p:nvPr>
        </p:nvSpPr>
        <p:spPr>
          <a:xfrm>
            <a:off x="5715000" y="2095500"/>
            <a:ext cx="3810000" cy="254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10" name="LabelBefore"/>
          <p:cNvSpPr>
            <a:spLocks noGrp="1"/>
          </p:cNvSpPr>
          <p:nvPr>
            <p:ph type="body" idx="33" hasCustomPrompt="1"/>
          </p:nvPr>
        </p:nvSpPr>
        <p:spPr>
          <a:xfrm>
            <a:off x="1524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Before</a:t>
            </a:r>
          </a:p>
        </p:txBody>
      </p:sp>
      <p:sp>
        <p:nvSpPr>
          <p:cNvPr id="11" name="LabelAfter"/>
          <p:cNvSpPr>
            <a:spLocks noGrp="1"/>
          </p:cNvSpPr>
          <p:nvPr>
            <p:ph type="body" idx="34" hasCustomPrompt="1"/>
          </p:nvPr>
        </p:nvSpPr>
        <p:spPr>
          <a:xfrm>
            <a:off x="5715000" y="47625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7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After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Photo Annotat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Photo"/>
          <p:cNvSpPr>
            <a:spLocks noGrp="1"/>
          </p:cNvSpPr>
          <p:nvPr>
            <p:ph type="pic" idx="15" hasCustomPrompt="1"/>
          </p:nvPr>
        </p:nvSpPr>
        <p:spPr>
          <a:xfrm>
            <a:off x="1524000" y="1905000"/>
            <a:ext cx="5715000" cy="3810000"/>
          </a:xfrm>
          <a:prstGeom prst="rect">
            <a:avLst/>
          </a:prstGeom>
          <a:solidFill>
            <a:srgbClr val="DEE7E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rgbClr val="7D8B91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Insert photo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F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Title"/>
          <p:cNvSpPr>
            <a:spLocks noGrp="1"/>
          </p:cNvSpPr>
          <p:nvPr>
            <p:ph type="title" hasCustomPrompt="1"/>
          </p:nvPr>
        </p:nvSpPr>
        <p:spPr>
          <a:xfrm>
            <a:off x="1524000" y="952500"/>
            <a:ext cx="952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9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Story"/>
          <p:cNvSpPr>
            <a:spLocks noGrp="1"/>
          </p:cNvSpPr>
          <p:nvPr>
            <p:ph type="body" idx="35" hasCustomPrompt="1"/>
          </p:nvPr>
        </p:nvSpPr>
        <p:spPr>
          <a:xfrm>
            <a:off x="1524000" y="20955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5D6C73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The case in two or three sentences.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Quiz">
    <p:bg>
      <p:bgPr>
        <a:solidFill>
          <a:srgbClr val="1F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il"/>
          <p:cNvSpPr/>
          <p:nvPr/>
        </p:nvSpPr>
        <p:spPr>
          <a:xfrm>
            <a:off x="0" y="0"/>
            <a:ext cx="952500" cy="6858000"/>
          </a:xfrm>
          <a:prstGeom prst="rect">
            <a:avLst/>
          </a:prstGeom>
          <a:solidFill>
            <a:srgbClr val="192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ail-ep-label"/>
          <p:cNvSpPr txBox="1"/>
          <p:nvPr/>
        </p:nvSpPr>
        <p:spPr>
          <a:xfrm>
            <a:off x="0" y="5334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EP</a:t>
            </a:r>
          </a:p>
        </p:txBody>
      </p:sp>
      <p:pic>
        <p:nvPicPr>
          <p:cNvPr id="4" name="rail-logo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096000"/>
            <a:ext cx="558800" cy="234950"/>
          </a:xfrm>
          <a:prstGeom prst="rect">
            <a:avLst/>
          </a:prstGeom>
        </p:spPr>
      </p:pic>
      <p:sp>
        <p:nvSpPr>
          <p:cNvPr id="5" name="Episode"/>
          <p:cNvSpPr>
            <a:spLocks noGrp="1"/>
          </p:cNvSpPr>
          <p:nvPr>
            <p:ph type="body" idx="10" hasCustomPrompt="1"/>
          </p:nvPr>
        </p:nvSpPr>
        <p:spPr>
          <a:xfrm>
            <a:off x="0" y="685800"/>
            <a:ext cx="952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1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6" name="Kicker"/>
          <p:cNvSpPr>
            <a:spLocks noGrp="1"/>
          </p:cNvSpPr>
          <p:nvPr>
            <p:ph type="body" idx="11" hasCustomPrompt="1"/>
          </p:nvPr>
        </p:nvSpPr>
        <p:spPr>
          <a:xfrm>
            <a:off x="1524000" y="698500"/>
            <a:ext cx="952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0" i="0" cap="all" spc="196">
                <a:solidFill>
                  <a:srgbClr val="00A5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Phase 1 · Chapter</a:t>
            </a:r>
          </a:p>
        </p:txBody>
      </p:sp>
      <p:sp>
        <p:nvSpPr>
          <p:cNvPr id="7" name="Question"/>
          <p:cNvSpPr>
            <a:spLocks noGrp="1"/>
          </p:cNvSpPr>
          <p:nvPr>
            <p:ph type="body" idx="36" hasCustomPrompt="1"/>
          </p:nvPr>
        </p:nvSpPr>
        <p:spPr>
          <a:xfrm>
            <a:off x="1524000" y="1143000"/>
            <a:ext cx="800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600" b="0" i="0">
                <a:solidFill>
                  <a:srgbClr val="FFFFFF"/>
                </a:solidFill>
                <a:latin typeface="Corporate S"/>
                <a:ea typeface="Corporate S"/>
                <a:cs typeface="Corporate S"/>
              </a:defRPr>
            </a:lvl1pPr>
          </a:lstStyle>
          <a:p>
            <a:r>
              <a:rPr lang="en-US" dirty="0"/>
              <a:t>Question?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3900" kern="1200">
          <a:solidFill>
            <a:srgbClr val="5D6C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kern="1200">
          <a:solidFill>
            <a:srgbClr val="5D6C73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700" kern="1200">
          <a:solidFill>
            <a:srgbClr val="333333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Online Training · Episode 02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In-Office Whitening Workflow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Step-by-Step Protocol + Common Mistakes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Dr. Germán Gómez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DDS · MD · PhD (University of Tübingen) · Esthetic Dentistry &amp; Implantology, Spain</a:t>
            </a:r>
          </a:p>
          <a:p>
            <a:r>
              <a:t>500+ lectures · 43 countries</a:t>
            </a:r>
          </a:p>
        </p:txBody>
      </p:sp>
      <p:pic>
        <p:nvPicPr>
          <p:cNvPr id="8" name="Picture Placeholder 7" descr="gomez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prstGeom prst="ellipse"/>
          <a:noFill/>
          <a:ln w="38100">
            <a:solidFill>
              <a:srgbClr val="00A5FF"/>
            </a:solidFill>
          </a:ln>
          <a:effectLst>
            <a:glow rad="571500">
              <a:srgbClr val="00A5FF">
                <a:alpha val="60000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Hook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t>“My friend had her whitening done here — hers looks incredible. Will mine?”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t>The hard truth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Same gel, same lamp — two clinics, visibly different results. The chemistry never changes between offices. The workflow does.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The fläsh answer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If the outcome depends on who happens to be working that day, you have a whitening lottery. A strict, standardized protocol ends the lottery.</a:t>
            </a:r>
          </a:p>
        </p:txBody>
      </p:sp>
      <p:sp>
        <p:nvSpPr>
          <p:cNvPr id="9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2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4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6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8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Principle · The big idea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Protocol, Not a Performance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A closed system.</a:t>
            </a:r>
          </a:p>
          <a:p>
            <a:pPr lvl="1"/>
            <a:r>
              <a:t>The 32% gel, Highpower LED lamp and fläshcard guidance work as one unit.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One standard.</a:t>
            </a:r>
          </a:p>
          <a:p>
            <a:pPr lvl="1"/>
            <a:r>
              <a:t>Same steps, same order, every patient — whoever is working today.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Happy patients, every time.</a:t>
            </a:r>
          </a:p>
          <a:p>
            <a:pPr lvl="1"/>
            <a:r>
              <a:t>An engineering claim, not a slogan — once the human steps are standardized.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Effortless for the clinical team.</a:t>
            </a:r>
          </a:p>
          <a:p>
            <a:pPr lvl="1"/>
            <a:r>
              <a:t>The lamp carries the physics, the card the clock — your team the patient.</a:t>
            </a:r>
          </a:p>
        </p:txBody>
      </p:sp>
      <p:sp>
        <p:nvSpPr>
          <p:cNvPr id="6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9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1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3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5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Principle · The big idea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years of German-made whitening expertise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Gel, lamp and fläshcard engineered as one closed system · WHITEsmile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Principle · The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Five-Phase SOP</a:t>
            </a:r>
          </a:p>
        </p:txBody>
      </p:sp>
      <p:sp>
        <p:nvSpPr>
          <p:cNvPr id="5" name="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6" name="step-title-1"/>
          <p:cNvSpPr txBox="1"/>
          <p:nvPr/>
        </p:nvSpPr>
        <p:spPr>
          <a:xfrm>
            <a:off x="2006600" y="21336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Document</a:t>
            </a:r>
          </a:p>
        </p:txBody>
      </p:sp>
      <p:sp>
        <p:nvSpPr>
          <p:cNvPr id="7" name="step-text-1"/>
          <p:cNvSpPr txBox="1"/>
          <p:nvPr/>
        </p:nvSpPr>
        <p:spPr>
          <a:xfrm>
            <a:off x="2006600" y="2476500"/>
            <a:ext cx="19939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Clean first, baseline shade in value order, standardized photos.</a:t>
            </a:r>
          </a:p>
        </p:txBody>
      </p:sp>
      <p:sp>
        <p:nvSpPr>
          <p:cNvPr id="8" name="step-num-2"/>
          <p:cNvSpPr/>
          <p:nvPr/>
        </p:nvSpPr>
        <p:spPr>
          <a:xfrm>
            <a:off x="4191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9" name="step-title-2"/>
          <p:cNvSpPr txBox="1"/>
          <p:nvPr/>
        </p:nvSpPr>
        <p:spPr>
          <a:xfrm>
            <a:off x="4673600" y="21336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Protect</a:t>
            </a:r>
          </a:p>
        </p:txBody>
      </p:sp>
      <p:sp>
        <p:nvSpPr>
          <p:cNvPr id="10" name="step-text-2"/>
          <p:cNvSpPr txBox="1"/>
          <p:nvPr/>
        </p:nvSpPr>
        <p:spPr>
          <a:xfrm>
            <a:off x="4673600" y="2476500"/>
            <a:ext cx="19939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Vitamin E or vaseline, correct retractor, goggles, cured barrier.</a:t>
            </a:r>
          </a:p>
        </p:txBody>
      </p:sp>
      <p:sp>
        <p:nvSpPr>
          <p:cNvPr id="11" name="step-num-3"/>
          <p:cNvSpPr/>
          <p:nvPr/>
        </p:nvSpPr>
        <p:spPr>
          <a:xfrm>
            <a:off x="6858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2" name="step-title-3"/>
          <p:cNvSpPr txBox="1"/>
          <p:nvPr/>
        </p:nvSpPr>
        <p:spPr>
          <a:xfrm>
            <a:off x="7340600" y="21336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</a:t>
            </a:r>
          </a:p>
        </p:txBody>
      </p:sp>
      <p:sp>
        <p:nvSpPr>
          <p:cNvPr id="13" name="step-text-3"/>
          <p:cNvSpPr txBox="1"/>
          <p:nvPr/>
        </p:nvSpPr>
        <p:spPr>
          <a:xfrm>
            <a:off x="7340600" y="2476500"/>
            <a:ext cx="19939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A minimum 1 mm of green 32% gel on every facial surface.</a:t>
            </a:r>
          </a:p>
        </p:txBody>
      </p:sp>
      <p:sp>
        <p:nvSpPr>
          <p:cNvPr id="14" name="step-num-4"/>
          <p:cNvSpPr/>
          <p:nvPr/>
        </p:nvSpPr>
        <p:spPr>
          <a:xfrm>
            <a:off x="15240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5" name="step-title-4"/>
          <p:cNvSpPr txBox="1"/>
          <p:nvPr/>
        </p:nvSpPr>
        <p:spPr>
          <a:xfrm>
            <a:off x="2006600" y="39116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Activate &amp; monitor</a:t>
            </a:r>
          </a:p>
        </p:txBody>
      </p:sp>
      <p:sp>
        <p:nvSpPr>
          <p:cNvPr id="16" name="step-text-4"/>
          <p:cNvSpPr txBox="1"/>
          <p:nvPr/>
        </p:nvSpPr>
        <p:spPr>
          <a:xfrm>
            <a:off x="2006600" y="4254500"/>
            <a:ext cx="19939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locked on the retractor, fläshcard cycles, comfort checkpoints.</a:t>
            </a:r>
          </a:p>
        </p:txBody>
      </p:sp>
      <p:sp>
        <p:nvSpPr>
          <p:cNvPr id="17" name="step-num-5"/>
          <p:cNvSpPr/>
          <p:nvPr/>
        </p:nvSpPr>
        <p:spPr>
          <a:xfrm>
            <a:off x="41910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5</a:t>
            </a:r>
          </a:p>
        </p:txBody>
      </p:sp>
      <p:sp>
        <p:nvSpPr>
          <p:cNvPr id="18" name="step-title-5"/>
          <p:cNvSpPr txBox="1"/>
          <p:nvPr/>
        </p:nvSpPr>
        <p:spPr>
          <a:xfrm>
            <a:off x="4673600" y="3911600"/>
            <a:ext cx="19939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Seal &amp; instruct</a:t>
            </a:r>
          </a:p>
        </p:txBody>
      </p:sp>
      <p:sp>
        <p:nvSpPr>
          <p:cNvPr id="19" name="step-text-5"/>
          <p:cNvSpPr txBox="1"/>
          <p:nvPr/>
        </p:nvSpPr>
        <p:spPr>
          <a:xfrm>
            <a:off x="4673600" y="4254500"/>
            <a:ext cx="19939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After Whitening Mousse, final documentation, the aftercare rules.</a:t>
            </a:r>
          </a:p>
        </p:txBody>
      </p:sp>
      <p:sp>
        <p:nvSpPr>
          <p:cNvPr id="20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3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5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7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9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1 of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Whitening never begins on an uncleaned tooth.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1 · Document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Before You Whiten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Prophylaxis first.</a:t>
            </a:r>
          </a:p>
          <a:p>
            <a:pPr lvl="1"/>
            <a:r>
              <a:t>Always — plaque, calculus and stain removed before any chemistry.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Cleaning can be enough.</a:t>
            </a:r>
          </a:p>
          <a:p>
            <a:pPr lvl="1"/>
            <a:r>
              <a:t>If polishing delivers the wanted shade, say so — nothing builds trust faster.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Clean enamel, even contact.</a:t>
            </a:r>
          </a:p>
          <a:p>
            <a:pPr lvl="1"/>
            <a:r>
              <a:t>Your first defense against the uneven result in our mini case.</a:t>
            </a:r>
          </a:p>
        </p:txBody>
      </p:sp>
      <p:pic>
        <p:nvPicPr>
          <p:cNvPr id="6" name="Picture Placeholder 5" descr="prophylaxis-before-after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noFill/>
        </p:spPr>
      </p:pic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Professional prophylaxis — before and after</a:t>
            </a:r>
          </a:p>
        </p:txBody>
      </p:sp>
      <p:sp>
        <p:nvSpPr>
          <p:cNvPr id="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11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3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5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1 · Document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Value-Ordered Baseline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Determine it together.</a:t>
            </a:r>
          </a:p>
          <a:p>
            <a:pPr lvl="1"/>
            <a:r>
              <a:t>Daylight, teeth still hydrated, the tab in the patient’s own hand.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Enter it into the lamp.</a:t>
            </a:r>
          </a:p>
          <a:p>
            <a:pPr lvl="1"/>
            <a:r>
              <a:t>After treatment it reports the shades gained — a number, not an opinion.</a:t>
            </a:r>
          </a:p>
        </p:txBody>
      </p:sp>
      <p:sp>
        <p:nvSpPr>
          <p:cNvPr id="6" name="scale-chip-1"/>
          <p:cNvSpPr/>
          <p:nvPr/>
        </p:nvSpPr>
        <p:spPr>
          <a:xfrm>
            <a:off x="1524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B1</a:t>
            </a:r>
          </a:p>
        </p:txBody>
      </p:sp>
      <p:sp>
        <p:nvSpPr>
          <p:cNvPr id="7" name="scale-chip-2"/>
          <p:cNvSpPr/>
          <p:nvPr/>
        </p:nvSpPr>
        <p:spPr>
          <a:xfrm>
            <a:off x="2146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A1</a:t>
            </a:r>
          </a:p>
        </p:txBody>
      </p:sp>
      <p:sp>
        <p:nvSpPr>
          <p:cNvPr id="8" name="scale-chip-3"/>
          <p:cNvSpPr/>
          <p:nvPr/>
        </p:nvSpPr>
        <p:spPr>
          <a:xfrm>
            <a:off x="2768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B2</a:t>
            </a:r>
          </a:p>
        </p:txBody>
      </p:sp>
      <p:sp>
        <p:nvSpPr>
          <p:cNvPr id="9" name="scale-chip-4"/>
          <p:cNvSpPr/>
          <p:nvPr/>
        </p:nvSpPr>
        <p:spPr>
          <a:xfrm>
            <a:off x="3390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D2</a:t>
            </a:r>
          </a:p>
        </p:txBody>
      </p:sp>
      <p:sp>
        <p:nvSpPr>
          <p:cNvPr id="10" name="scale-chip-5"/>
          <p:cNvSpPr/>
          <p:nvPr/>
        </p:nvSpPr>
        <p:spPr>
          <a:xfrm>
            <a:off x="4013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A2</a:t>
            </a:r>
          </a:p>
        </p:txBody>
      </p:sp>
      <p:sp>
        <p:nvSpPr>
          <p:cNvPr id="11" name="scale-chip-6"/>
          <p:cNvSpPr/>
          <p:nvPr/>
        </p:nvSpPr>
        <p:spPr>
          <a:xfrm>
            <a:off x="4635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C1</a:t>
            </a:r>
          </a:p>
        </p:txBody>
      </p:sp>
      <p:sp>
        <p:nvSpPr>
          <p:cNvPr id="12" name="scale-chip-7"/>
          <p:cNvSpPr/>
          <p:nvPr/>
        </p:nvSpPr>
        <p:spPr>
          <a:xfrm>
            <a:off x="52578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C2</a:t>
            </a:r>
          </a:p>
        </p:txBody>
      </p:sp>
      <p:sp>
        <p:nvSpPr>
          <p:cNvPr id="13" name="scale-chip-8"/>
          <p:cNvSpPr/>
          <p:nvPr/>
        </p:nvSpPr>
        <p:spPr>
          <a:xfrm>
            <a:off x="58801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D4</a:t>
            </a:r>
          </a:p>
        </p:txBody>
      </p:sp>
      <p:sp>
        <p:nvSpPr>
          <p:cNvPr id="14" name="scale-chip-9"/>
          <p:cNvSpPr/>
          <p:nvPr/>
        </p:nvSpPr>
        <p:spPr>
          <a:xfrm>
            <a:off x="65024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</a:t>
            </a:r>
          </a:p>
        </p:txBody>
      </p:sp>
      <p:sp>
        <p:nvSpPr>
          <p:cNvPr id="15" name="scale-chip-10"/>
          <p:cNvSpPr/>
          <p:nvPr/>
        </p:nvSpPr>
        <p:spPr>
          <a:xfrm>
            <a:off x="71247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D3</a:t>
            </a:r>
          </a:p>
        </p:txBody>
      </p:sp>
      <p:sp>
        <p:nvSpPr>
          <p:cNvPr id="16" name="scale-chip-11"/>
          <p:cNvSpPr/>
          <p:nvPr/>
        </p:nvSpPr>
        <p:spPr>
          <a:xfrm>
            <a:off x="77470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B3</a:t>
            </a:r>
          </a:p>
        </p:txBody>
      </p:sp>
      <p:sp>
        <p:nvSpPr>
          <p:cNvPr id="17" name="scale-chip-12"/>
          <p:cNvSpPr/>
          <p:nvPr/>
        </p:nvSpPr>
        <p:spPr>
          <a:xfrm>
            <a:off x="83693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A3.5</a:t>
            </a:r>
          </a:p>
        </p:txBody>
      </p:sp>
      <p:sp>
        <p:nvSpPr>
          <p:cNvPr id="18" name="scale-chip-13"/>
          <p:cNvSpPr/>
          <p:nvPr/>
        </p:nvSpPr>
        <p:spPr>
          <a:xfrm>
            <a:off x="89916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B4</a:t>
            </a:r>
          </a:p>
        </p:txBody>
      </p:sp>
      <p:sp>
        <p:nvSpPr>
          <p:cNvPr id="19" name="scale-chip-14"/>
          <p:cNvSpPr/>
          <p:nvPr/>
        </p:nvSpPr>
        <p:spPr>
          <a:xfrm>
            <a:off x="96139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C3</a:t>
            </a:r>
          </a:p>
        </p:txBody>
      </p:sp>
      <p:sp>
        <p:nvSpPr>
          <p:cNvPr id="20" name="scale-chip-15"/>
          <p:cNvSpPr/>
          <p:nvPr/>
        </p:nvSpPr>
        <p:spPr>
          <a:xfrm>
            <a:off x="102362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A4</a:t>
            </a:r>
          </a:p>
        </p:txBody>
      </p:sp>
      <p:sp>
        <p:nvSpPr>
          <p:cNvPr id="21" name="scale-chip-16"/>
          <p:cNvSpPr/>
          <p:nvPr/>
        </p:nvSpPr>
        <p:spPr>
          <a:xfrm>
            <a:off x="10858500" y="2095500"/>
            <a:ext cx="571500" cy="635000"/>
          </a:xfrm>
          <a:prstGeom prst="roundRect">
            <a:avLst>
              <a:gd name="adj" fmla="val 11111"/>
            </a:avLst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700" b="0" i="0">
                <a:solidFill>
                  <a:srgbClr val="5D6C73"/>
                </a:solidFill>
                <a:latin typeface="Corporate S"/>
              </a:rPr>
              <a:t>C4</a:t>
            </a:r>
          </a:p>
        </p:txBody>
      </p:sp>
      <p:sp>
        <p:nvSpPr>
          <p:cNvPr id="22" name="scale-caption"/>
          <p:cNvSpPr txBox="1"/>
          <p:nvPr/>
        </p:nvSpPr>
        <p:spPr>
          <a:xfrm>
            <a:off x="1524000" y="3111500"/>
            <a:ext cx="800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Value-ordered shade guide · lightest to darkest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35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Joiner A., J Dent 2004</a:t>
            </a:r>
          </a:p>
        </p:txBody>
      </p:sp>
      <p:sp>
        <p:nvSpPr>
          <p:cNvPr id="3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1 · Document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Photograph Like a Scientist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>
          <a:xfrm>
            <a:off x="1524000" y="2095500"/>
            <a:ext cx="5715000" cy="3556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The identical setup.</a:t>
            </a:r>
          </a:p>
          <a:p>
            <a:pPr lvl="1"/>
            <a:r>
              <a:t>Same camera, distance, angle and neutral light.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Motivation.</a:t>
            </a:r>
          </a:p>
          <a:p>
            <a:pPr lvl="1"/>
            <a:r>
              <a:t>Objective progress, session after session.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Ethical marketing.</a:t>
            </a:r>
          </a:p>
          <a:p>
            <a:pPr lvl="1"/>
            <a:r>
              <a:t>Consistent pairs, always with written consent.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Protection.</a:t>
            </a:r>
          </a:p>
          <a:p>
            <a:pPr lvl="1"/>
            <a:r>
              <a:t>If an outcome is disputed, your records speak.</a:t>
            </a:r>
          </a:p>
        </p:txBody>
      </p:sp>
      <p:sp>
        <p:nvSpPr>
          <p:cNvPr id="6" name="focus-card"/>
          <p:cNvSpPr/>
          <p:nvPr/>
        </p:nvSpPr>
        <p:spPr>
          <a:xfrm>
            <a:off x="7747000" y="2095500"/>
            <a:ext cx="3683000" cy="1479550"/>
          </a:xfrm>
          <a:prstGeom prst="roundRect">
            <a:avLst>
              <a:gd name="adj" fmla="val 7725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8" name="focus-title"/>
          <p:cNvSpPr txBox="1"/>
          <p:nvPr/>
        </p:nvSpPr>
        <p:spPr>
          <a:xfrm>
            <a:off x="8039100" y="2599195"/>
            <a:ext cx="3098800" cy="336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Consistency is credibility.</a:t>
            </a:r>
          </a:p>
        </p:txBody>
      </p:sp>
      <p:sp>
        <p:nvSpPr>
          <p:cNvPr id="9" name="focus-text"/>
          <p:cNvSpPr txBox="1"/>
          <p:nvPr/>
        </p:nvSpPr>
        <p:spPr>
          <a:xfrm>
            <a:off x="8039100" y="3049702"/>
            <a:ext cx="3098800" cy="2485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Identical setup, before and after.</a:t>
            </a:r>
          </a:p>
        </p:txBody>
      </p:sp>
      <p:sp>
        <p:nvSpPr>
          <p:cNvPr id="10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dot-1-active"/>
          <p:cNvSpPr/>
          <p:nvPr/>
        </p:nvSpPr>
        <p:spPr>
          <a:xfrm>
            <a:off x="336550" y="19050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13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5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7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9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2 of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Where every complication is born — and prevented.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2 · Protect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 Tissue First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Vitamin E or vaseline on the lips.</a:t>
            </a:r>
          </a:p>
          <a:p>
            <a:pPr lvl="1"/>
            <a:r>
              <a:t>Then the fläsh lip retractor, docked onto the lamp head.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Filtered eye protection.</a:t>
            </a:r>
          </a:p>
          <a:p>
            <a:pPr lvl="1"/>
            <a:r>
              <a:t>For the patient and for every team member present.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Gingiva protector, light-cured.</a:t>
            </a:r>
          </a:p>
          <a:p>
            <a:pPr lvl="1"/>
            <a:r>
              <a:t>Dry gingiva; only slight overlap onto cervical enamel; cure until solid.</a:t>
            </a:r>
          </a:p>
        </p:txBody>
      </p:sp>
      <p:pic>
        <p:nvPicPr>
          <p:cNvPr id="6" name="Picture Placeholder 5" descr="lamp-docked-goggles.jp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38" b="38"/>
          <a:stretch>
            <a:fillRect/>
          </a:stretch>
        </p:blipFill>
        <p:spPr>
          <a:noFill/>
        </p:spPr>
      </p:pic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Lamp docked on the lip retractor · filtered goggles</a:t>
            </a:r>
          </a:p>
        </p:txBody>
      </p:sp>
      <p:sp>
        <p:nvSpPr>
          <p:cNvPr id="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1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13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5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9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0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Li &amp; Greenwall, Br Dent J 2013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2 · Protect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Sins of Isolation</a:t>
            </a:r>
          </a:p>
        </p:txBody>
      </p:sp>
      <p:sp>
        <p:nvSpPr>
          <p:cNvPr id="5" name="check-num-1"/>
          <p:cNvSpPr/>
          <p:nvPr/>
        </p:nvSpPr>
        <p:spPr>
          <a:xfrm>
            <a:off x="1524000" y="20955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1</a:t>
            </a:r>
          </a:p>
        </p:txBody>
      </p:sp>
      <p:sp>
        <p:nvSpPr>
          <p:cNvPr id="6" name="check-text-1"/>
          <p:cNvSpPr txBox="1"/>
          <p:nvPr/>
        </p:nvSpPr>
        <p:spPr>
          <a:xfrm>
            <a:off x="2070100" y="20955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lip protection — vitamin E or vaseline</a:t>
            </a:r>
          </a:p>
        </p:txBody>
      </p:sp>
      <p:sp>
        <p:nvSpPr>
          <p:cNvPr id="7" name="check-num-2"/>
          <p:cNvSpPr/>
          <p:nvPr/>
        </p:nvSpPr>
        <p:spPr>
          <a:xfrm>
            <a:off x="1524000" y="26162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8" name="check-text-2"/>
          <p:cNvSpPr txBox="1"/>
          <p:nvPr/>
        </p:nvSpPr>
        <p:spPr>
          <a:xfrm>
            <a:off x="2070100" y="26162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Wrong retractor for the system</a:t>
            </a:r>
          </a:p>
        </p:txBody>
      </p:sp>
      <p:sp>
        <p:nvSpPr>
          <p:cNvPr id="9" name="check-num-3"/>
          <p:cNvSpPr/>
          <p:nvPr/>
        </p:nvSpPr>
        <p:spPr>
          <a:xfrm>
            <a:off x="1524000" y="31369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0" name="check-text-3"/>
          <p:cNvSpPr txBox="1"/>
          <p:nvPr/>
        </p:nvSpPr>
        <p:spPr>
          <a:xfrm>
            <a:off x="2070100" y="31369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 filtered eye protection</a:t>
            </a:r>
          </a:p>
        </p:txBody>
      </p:sp>
      <p:sp>
        <p:nvSpPr>
          <p:cNvPr id="11" name="check-num-4"/>
          <p:cNvSpPr/>
          <p:nvPr/>
        </p:nvSpPr>
        <p:spPr>
          <a:xfrm>
            <a:off x="1524000" y="36576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2" name="check-text-4"/>
          <p:cNvSpPr txBox="1"/>
          <p:nvPr/>
        </p:nvSpPr>
        <p:spPr>
          <a:xfrm>
            <a:off x="2070100" y="36576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not properly placed or cured</a:t>
            </a:r>
          </a:p>
        </p:txBody>
      </p:sp>
      <p:sp>
        <p:nvSpPr>
          <p:cNvPr id="13" name="check-num-5"/>
          <p:cNvSpPr/>
          <p:nvPr/>
        </p:nvSpPr>
        <p:spPr>
          <a:xfrm>
            <a:off x="1524000" y="41783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  <p:sp>
        <p:nvSpPr>
          <p:cNvPr id="14" name="check-text-5"/>
          <p:cNvSpPr txBox="1"/>
          <p:nvPr/>
        </p:nvSpPr>
        <p:spPr>
          <a:xfrm>
            <a:off x="2070100" y="41783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Not enough whitening gel (below 1 mm)</a:t>
            </a:r>
          </a:p>
        </p:txBody>
      </p:sp>
      <p:sp>
        <p:nvSpPr>
          <p:cNvPr id="15" name="check-num-6"/>
          <p:cNvSpPr/>
          <p:nvPr/>
        </p:nvSpPr>
        <p:spPr>
          <a:xfrm>
            <a:off x="1524000" y="46990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6</a:t>
            </a:r>
          </a:p>
        </p:txBody>
      </p:sp>
      <p:sp>
        <p:nvSpPr>
          <p:cNvPr id="16" name="check-text-6"/>
          <p:cNvSpPr txBox="1"/>
          <p:nvPr/>
        </p:nvSpPr>
        <p:spPr>
          <a:xfrm>
            <a:off x="2070100" y="46990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Patient left unattended — no signal agreed</a:t>
            </a:r>
          </a:p>
        </p:txBody>
      </p:sp>
      <p:sp>
        <p:nvSpPr>
          <p:cNvPr id="17" name="check-num-7"/>
          <p:cNvSpPr/>
          <p:nvPr/>
        </p:nvSpPr>
        <p:spPr>
          <a:xfrm>
            <a:off x="1524000" y="5219700"/>
            <a:ext cx="381000" cy="381000"/>
          </a:xfrm>
          <a:prstGeom prst="ellipse">
            <a:avLst/>
          </a:prstGeom>
          <a:solidFill>
            <a:srgbClr val="DEE7EC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00A5FF"/>
                </a:solidFill>
                <a:latin typeface="Corporate S"/>
              </a:rPr>
              <a:t>7</a:t>
            </a:r>
          </a:p>
        </p:txBody>
      </p:sp>
      <p:sp>
        <p:nvSpPr>
          <p:cNvPr id="18" name="check-text-7"/>
          <p:cNvSpPr txBox="1"/>
          <p:nvPr/>
        </p:nvSpPr>
        <p:spPr>
          <a:xfrm>
            <a:off x="2070100" y="5219700"/>
            <a:ext cx="51689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Dentin sensitivity not managed</a:t>
            </a:r>
          </a:p>
        </p:txBody>
      </p:sp>
      <p:sp>
        <p:nvSpPr>
          <p:cNvPr id="19" name="focus-card"/>
          <p:cNvSpPr/>
          <p:nvPr/>
        </p:nvSpPr>
        <p:spPr>
          <a:xfrm>
            <a:off x="7747000" y="2095500"/>
            <a:ext cx="3683000" cy="2063750"/>
          </a:xfrm>
          <a:prstGeom prst="roundRect">
            <a:avLst>
              <a:gd name="adj" fmla="val 5538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21" name="focus-title"/>
          <p:cNvSpPr txBox="1"/>
          <p:nvPr/>
        </p:nvSpPr>
        <p:spPr>
          <a:xfrm>
            <a:off x="8039100" y="2599195"/>
            <a:ext cx="3098800" cy="6724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Burns are never caused by the gel.</a:t>
            </a:r>
          </a:p>
        </p:txBody>
      </p:sp>
      <p:sp>
        <p:nvSpPr>
          <p:cNvPr id="22" name="focus-text"/>
          <p:cNvSpPr txBox="1"/>
          <p:nvPr/>
        </p:nvSpPr>
        <p:spPr>
          <a:xfrm>
            <a:off x="8039100" y="3385909"/>
            <a:ext cx="3098800" cy="4970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Rescue: vitamin E or vaseline onto the gingiva — no panic, protocol.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-active"/>
          <p:cNvSpPr/>
          <p:nvPr/>
        </p:nvSpPr>
        <p:spPr>
          <a:xfrm>
            <a:off x="336550" y="25654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3 of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The gel is engineered for precision.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3 · Apply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mm. Green. Neutral pH.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Dual-chamber 32% HP.</a:t>
            </a:r>
          </a:p>
          <a:p>
            <a:pPr lvl="1"/>
            <a:r>
              <a:t>Mixed fresh, full potency until use.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Green = precision.</a:t>
            </a:r>
          </a:p>
          <a:p>
            <a:pPr lvl="1"/>
            <a:r>
              <a:t>Every surface visibly covered.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Oxidation, not erosion.</a:t>
            </a:r>
          </a:p>
          <a:p>
            <a:pPr lvl="1"/>
            <a:r>
              <a:t>Chromogens oxidised at neutral pH.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Minimum 1 mm, everywhere.</a:t>
            </a:r>
          </a:p>
          <a:p>
            <a:pPr lvl="1"/>
            <a:r>
              <a:t>A thin layer leaves a pale patch.</a:t>
            </a:r>
          </a:p>
        </p:txBody>
      </p:sp>
      <p:pic>
        <p:nvPicPr>
          <p:cNvPr id="6" name="Picture Placeholder 5" descr="syringe-set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xfrm>
            <a:off x="7831138" y="1905000"/>
            <a:ext cx="2117725" cy="2540000"/>
          </a:xfrm>
          <a:noFill/>
        </p:spPr>
      </p:pic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The fläsh syringe set: gel, barrier, mousse</a:t>
            </a:r>
          </a:p>
        </p:txBody>
      </p:sp>
      <p:sp>
        <p:nvSpPr>
          <p:cNvPr id="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1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3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15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1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3 · Apply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Lamp: Position Is Power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Lock the geometry.</a:t>
            </a:r>
          </a:p>
          <a:p>
            <a:pPr lvl="1"/>
            <a:r>
              <a:t>Patient at 45°, lamp head locked on the retractor — intensity level IIII.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The expensive centimetre.</a:t>
            </a:r>
          </a:p>
          <a:p>
            <a:pPr lvl="1"/>
            <a:r>
              <a:t>One centimetre of gap costs ≈50% of the power.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Complementary-colour activation.</a:t>
            </a:r>
          </a:p>
          <a:p>
            <a:pPr lvl="1"/>
            <a:r>
              <a:t>Blue 460 nm light, absorbed by the green gel — no UV, no infrared, below 39 °C.</a:t>
            </a:r>
          </a:p>
        </p:txBody>
      </p:sp>
      <p:sp>
        <p:nvSpPr>
          <p:cNvPr id="6" name="chart-card"/>
          <p:cNvSpPr/>
          <p:nvPr/>
        </p:nvSpPr>
        <p:spPr>
          <a:xfrm>
            <a:off x="6350000" y="2095500"/>
            <a:ext cx="5080000" cy="2235200"/>
          </a:xfrm>
          <a:prstGeom prst="roundRect">
            <a:avLst>
              <a:gd name="adj" fmla="val 5113"/>
            </a:avLst>
          </a:prstGeom>
          <a:solidFill>
            <a:srgbClr val="DEE7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art-title"/>
          <p:cNvSpPr txBox="1"/>
          <p:nvPr/>
        </p:nvSpPr>
        <p:spPr>
          <a:xfrm>
            <a:off x="6667500" y="23114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 cap="all" spc="196">
                <a:solidFill>
                  <a:srgbClr val="5D6C73"/>
                </a:solidFill>
                <a:latin typeface="Corporate S"/>
              </a:rPr>
              <a:t>Light power at the enamel</a:t>
            </a:r>
          </a:p>
        </p:txBody>
      </p:sp>
      <p:sp>
        <p:nvSpPr>
          <p:cNvPr id="8" name="bar-track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ar-fill-1"/>
          <p:cNvSpPr/>
          <p:nvPr/>
        </p:nvSpPr>
        <p:spPr>
          <a:xfrm>
            <a:off x="6667500" y="29210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00A5FF"/>
          </a:solidFill>
          <a:ln>
            <a:noFill/>
          </a:ln>
          <a:effectLst>
            <a:glow rad="190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bar-value-1"/>
          <p:cNvSpPr txBox="1"/>
          <p:nvPr/>
        </p:nvSpPr>
        <p:spPr>
          <a:xfrm>
            <a:off x="10350500" y="28892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100%</a:t>
            </a:r>
          </a:p>
        </p:txBody>
      </p:sp>
      <p:sp>
        <p:nvSpPr>
          <p:cNvPr id="11" name="bar-track-2"/>
          <p:cNvSpPr/>
          <p:nvPr/>
        </p:nvSpPr>
        <p:spPr>
          <a:xfrm>
            <a:off x="6667500" y="3581400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ar-fill-2"/>
          <p:cNvSpPr/>
          <p:nvPr/>
        </p:nvSpPr>
        <p:spPr>
          <a:xfrm>
            <a:off x="6667500" y="3581400"/>
            <a:ext cx="2026920" cy="254000"/>
          </a:xfrm>
          <a:prstGeom prst="roundRect">
            <a:avLst>
              <a:gd name="adj" fmla="val 50000"/>
            </a:avLst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ar-value-2"/>
          <p:cNvSpPr txBox="1"/>
          <p:nvPr/>
        </p:nvSpPr>
        <p:spPr>
          <a:xfrm>
            <a:off x="10350500" y="3549650"/>
            <a:ext cx="762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" b="0" i="0">
                <a:solidFill>
                  <a:srgbClr val="5D6C73"/>
                </a:solidFill>
                <a:latin typeface="Corporate S"/>
              </a:rPr>
              <a:t>56%</a:t>
            </a:r>
          </a:p>
        </p:txBody>
      </p:sp>
      <p:sp>
        <p:nvSpPr>
          <p:cNvPr id="14" name="bar-label-1"/>
          <p:cNvSpPr txBox="1"/>
          <p:nvPr/>
        </p:nvSpPr>
        <p:spPr>
          <a:xfrm>
            <a:off x="6667500" y="2628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Lamp docked on the retractor</a:t>
            </a:r>
          </a:p>
        </p:txBody>
      </p:sp>
      <p:sp>
        <p:nvSpPr>
          <p:cNvPr id="15" name="bar-label-2"/>
          <p:cNvSpPr txBox="1"/>
          <p:nvPr/>
        </p:nvSpPr>
        <p:spPr>
          <a:xfrm>
            <a:off x="6667500" y="32893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1 cm of extra gap</a:t>
            </a:r>
          </a:p>
        </p:txBody>
      </p:sp>
      <p:sp>
        <p:nvSpPr>
          <p:cNvPr id="16" name="chart-note"/>
          <p:cNvSpPr txBox="1"/>
          <p:nvPr/>
        </p:nvSpPr>
        <p:spPr>
          <a:xfrm>
            <a:off x="6667500" y="39751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1 cm of extra gap ≈ 50% less light power (3² = 9 vs 4² = 16)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-active"/>
          <p:cNvSpPr/>
          <p:nvPr/>
        </p:nvSpPr>
        <p:spPr>
          <a:xfrm>
            <a:off x="336550" y="32258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9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Ontiveros &amp; Paravina, J Dent 2009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4 of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0" y="2387600"/>
            <a:ext cx="4749800" cy="2236508"/>
          </a:xfrm>
        </p:spPr>
        <p:txBody>
          <a:bodyPr/>
          <a:lstStyle/>
          <a:p>
            <a:r>
              <a:t>Activate &amp; Monitor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>
          <a:xfrm>
            <a:off x="5080000" y="4840008"/>
            <a:ext cx="4445000" cy="825500"/>
          </a:xfrm>
        </p:spPr>
        <p:txBody>
          <a:bodyPr/>
          <a:lstStyle/>
          <a:p>
            <a:r>
              <a:t>Insert the card — let the system lead your assistant.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-active"/>
          <p:cNvSpPr/>
          <p:nvPr/>
        </p:nvSpPr>
        <p:spPr>
          <a:xfrm>
            <a:off x="336550" y="38862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4 · Activate &amp; Monitor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fläshcard Discipline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3–4 cycles × 15 minutes.</a:t>
            </a:r>
          </a:p>
          <a:p>
            <a:pPr lvl="1"/>
            <a:r>
              <a:t>The cycle length is not a negotiable estimate — it is the protocol.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Fresh gel between cycles.</a:t>
            </a:r>
          </a:p>
          <a:p>
            <a:pPr lvl="1"/>
            <a:r>
              <a:t>Suction off the spent gel — never let the patient rinse.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Closed, but flexible.</a:t>
            </a:r>
          </a:p>
          <a:p>
            <a:pPr lvl="1"/>
            <a:r>
              <a:t>Every remaining minute is banked by the card — the hero of our mini case.</a:t>
            </a:r>
          </a:p>
        </p:txBody>
      </p:sp>
      <p:pic>
        <p:nvPicPr>
          <p:cNvPr id="6" name="Picture Placeholder 5" descr="touchscreen-cycle-settings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>
          <a:xfrm>
            <a:off x="6648450" y="1905000"/>
            <a:ext cx="4483100" cy="2540000"/>
          </a:xfrm>
          <a:noFill/>
        </p:spPr>
      </p:pic>
      <p:sp>
        <p:nvSpPr>
          <p:cNvPr id="7" name="Text Placeholder 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The touchscreen guides each cycle</a:t>
            </a:r>
          </a:p>
        </p:txBody>
      </p:sp>
      <p:sp>
        <p:nvSpPr>
          <p:cNvPr id="8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1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3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15" name="rail-dot-4-active"/>
          <p:cNvSpPr/>
          <p:nvPr/>
        </p:nvSpPr>
        <p:spPr>
          <a:xfrm>
            <a:off x="336550" y="38862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7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4 · Activate &amp; Monitor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Comfort Checkpoints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>
          <a:xfrm>
            <a:off x="1524000" y="2095500"/>
            <a:ext cx="5715000" cy="3556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Agreed hand signal.</a:t>
            </a:r>
          </a:p>
          <a:p>
            <a:pPr lvl="1"/>
            <a:r>
              <a:t>Established before the first cycle begins.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Verbal check.</a:t>
            </a:r>
          </a:p>
          <a:p>
            <a:pPr lvl="1"/>
            <a:r>
              <a:t>At every gel change — ask, don’t assume.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Pulse mode.</a:t>
            </a:r>
          </a:p>
          <a:p>
            <a:pPr lvl="1"/>
            <a:r>
              <a:t>Cycles 2–3, at the first sign of sensitivity.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Never unattended — Sin #6.</a:t>
            </a:r>
          </a:p>
          <a:p>
            <a:pPr lvl="1"/>
            <a:r>
              <a:t>Your assistant manages the human being.</a:t>
            </a:r>
          </a:p>
        </p:txBody>
      </p:sp>
      <p:sp>
        <p:nvSpPr>
          <p:cNvPr id="6" name="focus-card"/>
          <p:cNvSpPr/>
          <p:nvPr/>
        </p:nvSpPr>
        <p:spPr>
          <a:xfrm>
            <a:off x="7747000" y="2095500"/>
            <a:ext cx="3683000" cy="2063750"/>
          </a:xfrm>
          <a:prstGeom prst="roundRect">
            <a:avLst>
              <a:gd name="adj" fmla="val 5538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8" name="focus-title"/>
          <p:cNvSpPr txBox="1"/>
          <p:nvPr/>
        </p:nvSpPr>
        <p:spPr>
          <a:xfrm>
            <a:off x="8039100" y="2599195"/>
            <a:ext cx="3098800" cy="6724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“Effortless for the clinical team”</a:t>
            </a:r>
          </a:p>
        </p:txBody>
      </p:sp>
      <p:sp>
        <p:nvSpPr>
          <p:cNvPr id="9" name="focus-text"/>
          <p:cNvSpPr txBox="1"/>
          <p:nvPr/>
        </p:nvSpPr>
        <p:spPr>
          <a:xfrm>
            <a:off x="8039100" y="3385909"/>
            <a:ext cx="3098800" cy="4970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The system carries the clock and the physics.</a:t>
            </a:r>
          </a:p>
        </p:txBody>
      </p:sp>
      <p:sp>
        <p:nvSpPr>
          <p:cNvPr id="10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3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5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17" name="rail-dot-4-active"/>
          <p:cNvSpPr/>
          <p:nvPr/>
        </p:nvSpPr>
        <p:spPr>
          <a:xfrm>
            <a:off x="336550" y="38862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4</a:t>
            </a:r>
          </a:p>
        </p:txBody>
      </p:sp>
      <p:sp>
        <p:nvSpPr>
          <p:cNvPr id="19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5 of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0" y="2387600"/>
            <a:ext cx="4749800" cy="2236508"/>
          </a:xfrm>
        </p:spPr>
        <p:txBody>
          <a:bodyPr/>
          <a:lstStyle/>
          <a:p>
            <a:r>
              <a:t>Seal &amp; Instruct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/>
          </p:nvPr>
        </p:nvSpPr>
        <p:spPr>
          <a:xfrm>
            <a:off x="5080000" y="4840008"/>
            <a:ext cx="4445000" cy="825500"/>
          </a:xfrm>
        </p:spPr>
        <p:txBody>
          <a:bodyPr/>
          <a:lstStyle/>
          <a:p>
            <a:r>
              <a:t>The last ten minutes decide how the first sixty are remembered.</a:t>
            </a:r>
          </a:p>
        </p:txBody>
      </p:sp>
      <p:sp>
        <p:nvSpPr>
          <p:cNvPr id="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1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4</a:t>
            </a:r>
          </a:p>
        </p:txBody>
      </p:sp>
      <p:sp>
        <p:nvSpPr>
          <p:cNvPr id="16" name="rail-dot-5-active"/>
          <p:cNvSpPr/>
          <p:nvPr/>
        </p:nvSpPr>
        <p:spPr>
          <a:xfrm>
            <a:off x="336550" y="45466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5 · Seal &amp; Instruct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Finish Without Undoing 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>
          <a:xfrm>
            <a:off x="1524000" y="2095500"/>
            <a:ext cx="5715000" cy="3556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No rinsing between cycles.</a:t>
            </a:r>
          </a:p>
          <a:p>
            <a:pPr lvl="1"/>
            <a:r>
              <a:t>Rinsing destroys isolation — suction only.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Gel off, barrier last.</a:t>
            </a:r>
          </a:p>
          <a:p>
            <a:pPr lvl="1"/>
            <a:r>
              <a:t>Protect the tissue until the chemistry is gone.</a:t>
            </a:r>
          </a:p>
          <a:p>
            <a:pPr/>
            <a:r>
              <a:rPr>
                <a:solidFill>
                  <a:srgbClr val="00A5FF"/>
                </a:solidFill>
              </a:rPr>
              <a:t>03</a:t>
            </a:r>
            <a:r>
              <a:t>	After Whitening Mousse.</a:t>
            </a:r>
          </a:p>
          <a:p>
            <a:pPr lvl="1"/>
            <a:r>
              <a:t>Soothes and remineralizes the treated surface.</a:t>
            </a:r>
          </a:p>
          <a:p>
            <a:pPr/>
            <a:r>
              <a:rPr>
                <a:solidFill>
                  <a:srgbClr val="00A5FF"/>
                </a:solidFill>
              </a:rPr>
              <a:t>04</a:t>
            </a:r>
            <a:r>
              <a:t>	Final shade &amp; after photos.</a:t>
            </a:r>
          </a:p>
          <a:p>
            <a:pPr lvl="1"/>
            <a:r>
              <a:t>Value-ordered guide, shades gained, identical setup.</a:t>
            </a:r>
          </a:p>
        </p:txBody>
      </p:sp>
      <p:sp>
        <p:nvSpPr>
          <p:cNvPr id="6" name="focus-card"/>
          <p:cNvSpPr/>
          <p:nvPr/>
        </p:nvSpPr>
        <p:spPr>
          <a:xfrm>
            <a:off x="7747000" y="2095500"/>
            <a:ext cx="3683000" cy="1479550"/>
          </a:xfrm>
          <a:prstGeom prst="roundRect">
            <a:avLst>
              <a:gd name="adj" fmla="val 7725"/>
            </a:avLst>
          </a:prstGeom>
          <a:solidFill>
            <a:srgbClr val="1F272B"/>
          </a:solidFill>
          <a:ln w="12700">
            <a:solidFill>
              <a:srgbClr val="00A5FF"/>
            </a:solidFill>
          </a:ln>
          <a:effectLst>
            <a:glow rad="317500">
              <a:srgbClr val="00A5FF">
                <a:alpha val="4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focus-label"/>
          <p:cNvSpPr txBox="1"/>
          <p:nvPr/>
        </p:nvSpPr>
        <p:spPr>
          <a:xfrm>
            <a:off x="8039100" y="2374900"/>
            <a:ext cx="3098800" cy="160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Clinical focus</a:t>
            </a:r>
          </a:p>
        </p:txBody>
      </p:sp>
      <p:sp>
        <p:nvSpPr>
          <p:cNvPr id="8" name="focus-title"/>
          <p:cNvSpPr txBox="1"/>
          <p:nvPr/>
        </p:nvSpPr>
        <p:spPr>
          <a:xfrm>
            <a:off x="8039100" y="2599195"/>
            <a:ext cx="3098800" cy="3362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orporate S"/>
              </a:rPr>
              <a:t>This is the moment</a:t>
            </a:r>
          </a:p>
        </p:txBody>
      </p:sp>
      <p:sp>
        <p:nvSpPr>
          <p:cNvPr id="9" name="focus-text"/>
          <p:cNvSpPr txBox="1"/>
          <p:nvPr/>
        </p:nvSpPr>
        <p:spPr>
          <a:xfrm>
            <a:off x="8039100" y="3049702"/>
            <a:ext cx="3098800" cy="2485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the mirror does your marketing.</a:t>
            </a:r>
          </a:p>
        </p:txBody>
      </p:sp>
      <p:sp>
        <p:nvSpPr>
          <p:cNvPr id="10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3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15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17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4</a:t>
            </a:r>
          </a:p>
        </p:txBody>
      </p:sp>
      <p:sp>
        <p:nvSpPr>
          <p:cNvPr id="19" name="rail-dot-5-active"/>
          <p:cNvSpPr/>
          <p:nvPr/>
        </p:nvSpPr>
        <p:spPr>
          <a:xfrm>
            <a:off x="336550" y="45466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Phase 5 · Seal &amp; Instruct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Aftercare Window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>
                <a:solidFill>
                  <a:srgbClr val="00A5FF"/>
                </a:solidFill>
              </a:rPr>
              <a:t>01</a:t>
            </a:r>
            <a:r>
              <a:t>	Mind the first hours.</a:t>
            </a:r>
          </a:p>
          <a:p>
            <a:pPr lvl="1"/>
            <a:r>
              <a:t>No magic number — make chromogen-light choices while the pellicle re-establishes.</a:t>
            </a:r>
          </a:p>
          <a:p>
            <a:pPr/>
            <a:r>
              <a:rPr>
                <a:solidFill>
                  <a:srgbClr val="00A5FF"/>
                </a:solidFill>
              </a:rPr>
              <a:t>02</a:t>
            </a:r>
            <a:r>
              <a:t>	Pre-empt the rebound.</a:t>
            </a:r>
          </a:p>
          <a:p>
            <a:pPr lvl="1"/>
            <a:r>
              <a:t>Slight settling over the next days is normal — say it in the chair.</a:t>
            </a:r>
          </a:p>
        </p:txBody>
      </p:sp>
      <p:sp>
        <p:nvSpPr>
          <p:cNvPr id="6" name="tl-line"/>
          <p:cNvSpPr/>
          <p:nvPr/>
        </p:nvSpPr>
        <p:spPr>
          <a:xfrm>
            <a:off x="2476500" y="2463800"/>
            <a:ext cx="6096000" cy="25400"/>
          </a:xfrm>
          <a:prstGeom prst="rect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l-dot-1"/>
          <p:cNvSpPr/>
          <p:nvPr/>
        </p:nvSpPr>
        <p:spPr>
          <a:xfrm>
            <a:off x="2400300" y="2400300"/>
            <a:ext cx="152400" cy="1524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63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tl-at-1"/>
          <p:cNvSpPr txBox="1"/>
          <p:nvPr/>
        </p:nvSpPr>
        <p:spPr>
          <a:xfrm>
            <a:off x="1524000" y="20320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2100" b="0" i="0">
                <a:solidFill>
                  <a:srgbClr val="5D6C73"/>
                </a:solidFill>
                <a:latin typeface="Corporate S"/>
              </a:rPr>
              <a:t>Minutes</a:t>
            </a:r>
          </a:p>
        </p:txBody>
      </p:sp>
      <p:sp>
        <p:nvSpPr>
          <p:cNvPr id="9" name="tl-label-1"/>
          <p:cNvSpPr txBox="1"/>
          <p:nvPr/>
        </p:nvSpPr>
        <p:spPr>
          <a:xfrm>
            <a:off x="1524000" y="26416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orporate S"/>
              </a:rPr>
              <a:t>Basal pellicle layer forms</a:t>
            </a:r>
          </a:p>
        </p:txBody>
      </p:sp>
      <p:sp>
        <p:nvSpPr>
          <p:cNvPr id="10" name="tl-dot-2"/>
          <p:cNvSpPr/>
          <p:nvPr/>
        </p:nvSpPr>
        <p:spPr>
          <a:xfrm>
            <a:off x="5448300" y="2400300"/>
            <a:ext cx="152400" cy="1524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63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l-at-2"/>
          <p:cNvSpPr txBox="1"/>
          <p:nvPr/>
        </p:nvSpPr>
        <p:spPr>
          <a:xfrm>
            <a:off x="4572000" y="20320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2100" b="0" i="0">
                <a:solidFill>
                  <a:srgbClr val="5D6C73"/>
                </a:solidFill>
                <a:latin typeface="Corporate S"/>
              </a:rPr>
              <a:t>~2 h</a:t>
            </a:r>
          </a:p>
        </p:txBody>
      </p:sp>
      <p:sp>
        <p:nvSpPr>
          <p:cNvPr id="12" name="tl-label-2"/>
          <p:cNvSpPr txBox="1"/>
          <p:nvPr/>
        </p:nvSpPr>
        <p:spPr>
          <a:xfrm>
            <a:off x="4572000" y="26416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orporate S"/>
              </a:rPr>
              <a:t>Near-full thickness</a:t>
            </a:r>
          </a:p>
        </p:txBody>
      </p:sp>
      <p:sp>
        <p:nvSpPr>
          <p:cNvPr id="13" name="tl-dot-3"/>
          <p:cNvSpPr/>
          <p:nvPr/>
        </p:nvSpPr>
        <p:spPr>
          <a:xfrm>
            <a:off x="8496300" y="2400300"/>
            <a:ext cx="152400" cy="1524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63500">
              <a:srgbClr val="00A5FF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l-at-3"/>
          <p:cNvSpPr txBox="1"/>
          <p:nvPr/>
        </p:nvSpPr>
        <p:spPr>
          <a:xfrm>
            <a:off x="7620000" y="20320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2100" b="0" i="0">
                <a:solidFill>
                  <a:srgbClr val="5D6C73"/>
                </a:solidFill>
                <a:latin typeface="Corporate S"/>
              </a:rPr>
              <a:t>18–24 h</a:t>
            </a:r>
          </a:p>
        </p:txBody>
      </p:sp>
      <p:sp>
        <p:nvSpPr>
          <p:cNvPr id="15" name="tl-label-3"/>
          <p:cNvSpPr txBox="1"/>
          <p:nvPr/>
        </p:nvSpPr>
        <p:spPr>
          <a:xfrm>
            <a:off x="7620000" y="2641600"/>
            <a:ext cx="190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 i="0">
                <a:solidFill>
                  <a:srgbClr val="333333"/>
                </a:solidFill>
                <a:latin typeface="Corporate S"/>
              </a:rPr>
              <a:t>Maturation in vivo</a:t>
            </a:r>
          </a:p>
        </p:txBody>
      </p:sp>
      <p:sp>
        <p:nvSpPr>
          <p:cNvPr id="16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1</a:t>
            </a:r>
          </a:p>
        </p:txBody>
      </p:sp>
      <p:sp>
        <p:nvSpPr>
          <p:cNvPr id="19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2</a:t>
            </a:r>
          </a:p>
        </p:txBody>
      </p:sp>
      <p:sp>
        <p:nvSpPr>
          <p:cNvPr id="21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3</a:t>
            </a:r>
          </a:p>
        </p:txBody>
      </p:sp>
      <p:sp>
        <p:nvSpPr>
          <p:cNvPr id="23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ABB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ABB7BE"/>
                </a:solidFill>
                <a:latin typeface="Corporate S"/>
              </a:rPr>
              <a:t>4</a:t>
            </a:r>
          </a:p>
        </p:txBody>
      </p:sp>
      <p:sp>
        <p:nvSpPr>
          <p:cNvPr id="25" name="rail-dot-5-active"/>
          <p:cNvSpPr/>
          <p:nvPr/>
        </p:nvSpPr>
        <p:spPr>
          <a:xfrm>
            <a:off x="336550" y="4546600"/>
            <a:ext cx="190500" cy="190500"/>
          </a:xfrm>
          <a:prstGeom prst="ellipse">
            <a:avLst/>
          </a:prstGeom>
          <a:solidFill>
            <a:srgbClr val="00A5FF"/>
          </a:solidFill>
          <a:ln>
            <a:noFill/>
          </a:ln>
          <a:effectLst>
            <a:glow rad="76200">
              <a:srgbClr val="00A5FF">
                <a:alpha val="7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0A5FF"/>
                </a:solidFill>
                <a:latin typeface="Corporate S"/>
              </a:rPr>
              <a:t>5</a:t>
            </a:r>
          </a:p>
        </p:txBody>
      </p:sp>
      <p:sp>
        <p:nvSpPr>
          <p:cNvPr id="27" name="evidence-label"/>
          <p:cNvSpPr txBox="1"/>
          <p:nvPr/>
        </p:nvSpPr>
        <p:spPr>
          <a:xfrm>
            <a:off x="1524000" y="58420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Evidence</a:t>
            </a:r>
          </a:p>
        </p:txBody>
      </p:sp>
      <p:sp>
        <p:nvSpPr>
          <p:cNvPr id="28" name="evidence-text"/>
          <p:cNvSpPr txBox="1"/>
          <p:nvPr/>
        </p:nvSpPr>
        <p:spPr>
          <a:xfrm>
            <a:off x="1524000" y="6019800"/>
            <a:ext cx="787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7D8B91"/>
                </a:solidFill>
                <a:latin typeface="Corporate S"/>
              </a:rPr>
              <a:t>Hannig M., Clin Oral Investig 1999</a:t>
            </a:r>
          </a:p>
        </p:txBody>
      </p:sp>
      <p:sp>
        <p:nvSpPr>
          <p:cNvPr id="29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in-office procedure · Step by step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&amp; Protect</a:t>
            </a:r>
          </a:p>
        </p:txBody>
      </p:sp>
      <p:pic>
        <p:nvPicPr>
          <p:cNvPr id="5" name="step-photo-1" descr="01-insert-lip-retracto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905000"/>
            <a:ext cx="3200400" cy="1800225"/>
          </a:xfrm>
          <a:prstGeom prst="rect">
            <a:avLst/>
          </a:prstGeom>
        </p:spPr>
      </p:pic>
      <p:sp>
        <p:nvSpPr>
          <p:cNvPr id="6" name="step-num-1"/>
          <p:cNvSpPr/>
          <p:nvPr/>
        </p:nvSpPr>
        <p:spPr>
          <a:xfrm>
            <a:off x="16256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15240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Insert the lip retractor</a:t>
            </a:r>
          </a:p>
        </p:txBody>
      </p:sp>
      <p:pic>
        <p:nvPicPr>
          <p:cNvPr id="8" name="step-photo-2" descr="02-air-dry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1905000"/>
            <a:ext cx="3200400" cy="1800225"/>
          </a:xfrm>
          <a:prstGeom prst="rect">
            <a:avLst/>
          </a:prstGeom>
        </p:spPr>
      </p:pic>
      <p:sp>
        <p:nvSpPr>
          <p:cNvPr id="9" name="step-num-2"/>
          <p:cNvSpPr/>
          <p:nvPr/>
        </p:nvSpPr>
        <p:spPr>
          <a:xfrm>
            <a:off x="49784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48768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Air-dry teeth and gingiva</a:t>
            </a:r>
          </a:p>
        </p:txBody>
      </p:sp>
      <p:pic>
        <p:nvPicPr>
          <p:cNvPr id="11" name="step-photo-3" descr="03-apply-gingiva-protecto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29600" y="1905000"/>
            <a:ext cx="3200400" cy="1800225"/>
          </a:xfrm>
          <a:prstGeom prst="rect">
            <a:avLst/>
          </a:prstGeom>
        </p:spPr>
      </p:pic>
      <p:sp>
        <p:nvSpPr>
          <p:cNvPr id="12" name="step-num-3"/>
          <p:cNvSpPr/>
          <p:nvPr/>
        </p:nvSpPr>
        <p:spPr>
          <a:xfrm>
            <a:off x="83312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3" name="step-title-3"/>
          <p:cNvSpPr txBox="1"/>
          <p:nvPr/>
        </p:nvSpPr>
        <p:spPr>
          <a:xfrm>
            <a:off x="82296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 the Gingiva Protector</a:t>
            </a:r>
          </a:p>
        </p:txBody>
      </p:sp>
      <p:sp>
        <p:nvSpPr>
          <p:cNvPr id="14" name="steps-caption"/>
          <p:cNvSpPr txBox="1"/>
          <p:nvPr/>
        </p:nvSpPr>
        <p:spPr>
          <a:xfrm>
            <a:off x="1524000" y="4695825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7D8B91"/>
                </a:solidFill>
                <a:latin typeface="Corporate S"/>
              </a:rPr>
              <a:t>Clean, isolate and seal the soft tissue before any gel.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in-office procedure · Step by step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&amp; Protect</a:t>
            </a:r>
          </a:p>
        </p:txBody>
      </p:sp>
      <p:pic>
        <p:nvPicPr>
          <p:cNvPr id="5" name="step-photo-1" descr="04-light-cure-gingiva-protecto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905000"/>
            <a:ext cx="3200400" cy="1800225"/>
          </a:xfrm>
          <a:prstGeom prst="rect">
            <a:avLst/>
          </a:prstGeom>
        </p:spPr>
      </p:pic>
      <p:sp>
        <p:nvSpPr>
          <p:cNvPr id="6" name="step-num-1"/>
          <p:cNvSpPr/>
          <p:nvPr/>
        </p:nvSpPr>
        <p:spPr>
          <a:xfrm>
            <a:off x="16256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15240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Light-cure the Gingiva Protector</a:t>
            </a:r>
          </a:p>
        </p:txBody>
      </p:sp>
      <p:pic>
        <p:nvPicPr>
          <p:cNvPr id="8" name="step-photo-2" descr="05-check-sea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1905000"/>
            <a:ext cx="3200400" cy="1800225"/>
          </a:xfrm>
          <a:prstGeom prst="rect">
            <a:avLst/>
          </a:prstGeom>
        </p:spPr>
      </p:pic>
      <p:sp>
        <p:nvSpPr>
          <p:cNvPr id="9" name="step-num-2"/>
          <p:cNvSpPr/>
          <p:nvPr/>
        </p:nvSpPr>
        <p:spPr>
          <a:xfrm>
            <a:off x="49784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5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48768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Check the seal</a:t>
            </a:r>
          </a:p>
        </p:txBody>
      </p:sp>
      <p:sp>
        <p:nvSpPr>
          <p:cNvPr id="11" name="steps-caption"/>
          <p:cNvSpPr txBox="1"/>
          <p:nvPr/>
        </p:nvSpPr>
        <p:spPr>
          <a:xfrm>
            <a:off x="1524000" y="4695825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7D8B91"/>
                </a:solidFill>
                <a:latin typeface="Corporate S"/>
              </a:rPr>
              <a:t>Every complication is prevented here — the barrier is the treatment.</a:t>
            </a:r>
          </a:p>
        </p:txBody>
      </p:sp>
      <p:sp>
        <p:nvSpPr>
          <p:cNvPr id="12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5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7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19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1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in-office procedure · Step by step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&amp; Activate</a:t>
            </a:r>
          </a:p>
        </p:txBody>
      </p:sp>
      <p:pic>
        <p:nvPicPr>
          <p:cNvPr id="5" name="step-photo-1" descr="06-apply-g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905000"/>
            <a:ext cx="3200400" cy="1800225"/>
          </a:xfrm>
          <a:prstGeom prst="rect">
            <a:avLst/>
          </a:prstGeom>
        </p:spPr>
      </p:pic>
      <p:sp>
        <p:nvSpPr>
          <p:cNvPr id="6" name="step-num-1"/>
          <p:cNvSpPr/>
          <p:nvPr/>
        </p:nvSpPr>
        <p:spPr>
          <a:xfrm>
            <a:off x="16256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6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15240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 the gel, 1 mm thick</a:t>
            </a:r>
          </a:p>
        </p:txBody>
      </p:sp>
      <p:pic>
        <p:nvPicPr>
          <p:cNvPr id="8" name="step-photo-2" descr="07-adjust-lamp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1905000"/>
            <a:ext cx="3200400" cy="1800225"/>
          </a:xfrm>
          <a:prstGeom prst="rect">
            <a:avLst/>
          </a:prstGeom>
        </p:spPr>
      </p:pic>
      <p:sp>
        <p:nvSpPr>
          <p:cNvPr id="9" name="step-num-2"/>
          <p:cNvSpPr/>
          <p:nvPr/>
        </p:nvSpPr>
        <p:spPr>
          <a:xfrm>
            <a:off x="49784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7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48768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Adjust the lamp, start 15 min</a:t>
            </a:r>
          </a:p>
        </p:txBody>
      </p:sp>
      <p:pic>
        <p:nvPicPr>
          <p:cNvPr id="11" name="step-photo-3" descr="08-suction-gel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29600" y="1905000"/>
            <a:ext cx="3200400" cy="1800225"/>
          </a:xfrm>
          <a:prstGeom prst="rect">
            <a:avLst/>
          </a:prstGeom>
        </p:spPr>
      </p:pic>
      <p:sp>
        <p:nvSpPr>
          <p:cNvPr id="12" name="step-num-3"/>
          <p:cNvSpPr/>
          <p:nvPr/>
        </p:nvSpPr>
        <p:spPr>
          <a:xfrm>
            <a:off x="83312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8</a:t>
            </a:r>
          </a:p>
        </p:txBody>
      </p:sp>
      <p:sp>
        <p:nvSpPr>
          <p:cNvPr id="13" name="step-title-3"/>
          <p:cNvSpPr txBox="1"/>
          <p:nvPr/>
        </p:nvSpPr>
        <p:spPr>
          <a:xfrm>
            <a:off x="82296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Suction off the gel — no rinsing</a:t>
            </a:r>
          </a:p>
        </p:txBody>
      </p:sp>
      <p:sp>
        <p:nvSpPr>
          <p:cNvPr id="14" name="steps-caption"/>
          <p:cNvSpPr txBox="1"/>
          <p:nvPr/>
        </p:nvSpPr>
        <p:spPr>
          <a:xfrm>
            <a:off x="1524000" y="4695825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7D8B91"/>
                </a:solidFill>
                <a:latin typeface="Corporate S"/>
              </a:rPr>
              <a:t>Repeat 3× (max 4×) — fresh gel each cycle, suction only, never rinse.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in-office procedure · Step by step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Seal &amp; Finish</a:t>
            </a:r>
          </a:p>
        </p:txBody>
      </p:sp>
      <p:pic>
        <p:nvPicPr>
          <p:cNvPr id="5" name="step-photo-1" descr="09-rinse-residual-g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24000" y="1905000"/>
            <a:ext cx="3200400" cy="1800225"/>
          </a:xfrm>
          <a:prstGeom prst="rect">
            <a:avLst/>
          </a:prstGeom>
        </p:spPr>
      </p:pic>
      <p:sp>
        <p:nvSpPr>
          <p:cNvPr id="6" name="step-num-1"/>
          <p:cNvSpPr/>
          <p:nvPr/>
        </p:nvSpPr>
        <p:spPr>
          <a:xfrm>
            <a:off x="16256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9</a:t>
            </a:r>
          </a:p>
        </p:txBody>
      </p:sp>
      <p:sp>
        <p:nvSpPr>
          <p:cNvPr id="7" name="step-title-1"/>
          <p:cNvSpPr txBox="1"/>
          <p:nvPr/>
        </p:nvSpPr>
        <p:spPr>
          <a:xfrm>
            <a:off x="15240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Rinse off residual gel with water</a:t>
            </a:r>
          </a:p>
        </p:txBody>
      </p:sp>
      <p:pic>
        <p:nvPicPr>
          <p:cNvPr id="8" name="step-photo-2" descr="10-remove-gingiva-protecto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1905000"/>
            <a:ext cx="3200400" cy="1800225"/>
          </a:xfrm>
          <a:prstGeom prst="rect">
            <a:avLst/>
          </a:prstGeom>
        </p:spPr>
      </p:pic>
      <p:sp>
        <p:nvSpPr>
          <p:cNvPr id="9" name="step-num-2"/>
          <p:cNvSpPr/>
          <p:nvPr/>
        </p:nvSpPr>
        <p:spPr>
          <a:xfrm>
            <a:off x="49784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10</a:t>
            </a:r>
          </a:p>
        </p:txBody>
      </p:sp>
      <p:sp>
        <p:nvSpPr>
          <p:cNvPr id="10" name="step-title-2"/>
          <p:cNvSpPr txBox="1"/>
          <p:nvPr/>
        </p:nvSpPr>
        <p:spPr>
          <a:xfrm>
            <a:off x="48768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Remove the Gingiva Protector</a:t>
            </a:r>
          </a:p>
        </p:txBody>
      </p:sp>
      <p:pic>
        <p:nvPicPr>
          <p:cNvPr id="11" name="step-photo-3" descr="11-apply-after-whitening-mouss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29600" y="1905000"/>
            <a:ext cx="3200400" cy="1800225"/>
          </a:xfrm>
          <a:prstGeom prst="rect">
            <a:avLst/>
          </a:prstGeom>
        </p:spPr>
      </p:pic>
      <p:sp>
        <p:nvSpPr>
          <p:cNvPr id="12" name="step-num-3"/>
          <p:cNvSpPr/>
          <p:nvPr/>
        </p:nvSpPr>
        <p:spPr>
          <a:xfrm>
            <a:off x="8331200" y="20066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orporate S"/>
              </a:rPr>
              <a:t>11</a:t>
            </a:r>
          </a:p>
        </p:txBody>
      </p:sp>
      <p:sp>
        <p:nvSpPr>
          <p:cNvPr id="13" name="step-title-3"/>
          <p:cNvSpPr txBox="1"/>
          <p:nvPr/>
        </p:nvSpPr>
        <p:spPr>
          <a:xfrm>
            <a:off x="8229600" y="3806825"/>
            <a:ext cx="32004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 After Whitening Mousse</a:t>
            </a:r>
          </a:p>
        </p:txBody>
      </p:sp>
      <p:sp>
        <p:nvSpPr>
          <p:cNvPr id="14" name="steps-caption"/>
          <p:cNvSpPr txBox="1"/>
          <p:nvPr/>
        </p:nvSpPr>
        <p:spPr>
          <a:xfrm>
            <a:off x="1524000" y="4695825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7D8B91"/>
                </a:solidFill>
                <a:latin typeface="Corporate S"/>
              </a:rPr>
              <a:t>After Whitening Mousse soothes and remineralises — then final shade &amp; photos.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Mini case · Diagnose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“The Uneven Case”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A 38-year-old at the end of cycle 3 — centrals magnificent, cervical thirds still yellow, canines two steps behind, chalky patches on the laterals. She is holding the mirror.</a:t>
            </a:r>
          </a:p>
        </p:txBody>
      </p:sp>
      <p:sp>
        <p:nvSpPr>
          <p:cNvPr id="6" name="finding-head"/>
          <p:cNvSpPr txBox="1"/>
          <p:nvPr/>
        </p:nvSpPr>
        <p:spPr>
          <a:xfrm>
            <a:off x="1524000" y="32766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Finding</a:t>
            </a:r>
          </a:p>
        </p:txBody>
      </p:sp>
      <p:sp>
        <p:nvSpPr>
          <p:cNvPr id="7" name="cause-head"/>
          <p:cNvSpPr txBox="1"/>
          <p:nvPr/>
        </p:nvSpPr>
        <p:spPr>
          <a:xfrm>
            <a:off x="5588000" y="3276600"/>
            <a:ext cx="3937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00A5FF"/>
                </a:solidFill>
                <a:latin typeface="Corporate S"/>
              </a:rPr>
              <a:t>Cause</a:t>
            </a:r>
          </a:p>
        </p:txBody>
      </p:sp>
      <p:sp>
        <p:nvSpPr>
          <p:cNvPr id="8" name="finding-1"/>
          <p:cNvSpPr txBox="1"/>
          <p:nvPr/>
        </p:nvSpPr>
        <p:spPr>
          <a:xfrm>
            <a:off x="1524000" y="35560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Cervical thirds still yellow</a:t>
            </a:r>
          </a:p>
        </p:txBody>
      </p:sp>
      <p:sp>
        <p:nvSpPr>
          <p:cNvPr id="9" name="arrow-1"/>
          <p:cNvSpPr/>
          <p:nvPr/>
        </p:nvSpPr>
        <p:spPr>
          <a:xfrm>
            <a:off x="5207000" y="36830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use-1"/>
          <p:cNvSpPr txBox="1"/>
          <p:nvPr/>
        </p:nvSpPr>
        <p:spPr>
          <a:xfrm>
            <a:off x="5588000" y="35560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finding-2"/>
          <p:cNvSpPr txBox="1"/>
          <p:nvPr/>
        </p:nvSpPr>
        <p:spPr>
          <a:xfrm>
            <a:off x="1524000" y="40132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Patchy brightness</a:t>
            </a:r>
          </a:p>
        </p:txBody>
      </p:sp>
      <p:sp>
        <p:nvSpPr>
          <p:cNvPr id="12" name="arrow-2"/>
          <p:cNvSpPr/>
          <p:nvPr/>
        </p:nvSpPr>
        <p:spPr>
          <a:xfrm>
            <a:off x="5207000" y="41402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use-2"/>
          <p:cNvSpPr txBox="1"/>
          <p:nvPr/>
        </p:nvSpPr>
        <p:spPr>
          <a:xfrm>
            <a:off x="5588000" y="40132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Gel layer below 1 mm in zones — Sin #5</a:t>
            </a:r>
          </a:p>
        </p:txBody>
      </p:sp>
      <p:sp>
        <p:nvSpPr>
          <p:cNvPr id="14" name="finding-3"/>
          <p:cNvSpPr txBox="1"/>
          <p:nvPr/>
        </p:nvSpPr>
        <p:spPr>
          <a:xfrm>
            <a:off x="1524000" y="44704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Everything underperforming</a:t>
            </a:r>
          </a:p>
        </p:txBody>
      </p:sp>
      <p:sp>
        <p:nvSpPr>
          <p:cNvPr id="15" name="arrow-3"/>
          <p:cNvSpPr/>
          <p:nvPr/>
        </p:nvSpPr>
        <p:spPr>
          <a:xfrm>
            <a:off x="5207000" y="45974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use-3"/>
          <p:cNvSpPr txBox="1"/>
          <p:nvPr/>
        </p:nvSpPr>
        <p:spPr>
          <a:xfrm>
            <a:off x="5588000" y="44704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gap or tilt — 1 cm ≈ −50% power</a:t>
            </a:r>
          </a:p>
        </p:txBody>
      </p:sp>
      <p:sp>
        <p:nvSpPr>
          <p:cNvPr id="17" name="finding-4"/>
          <p:cNvSpPr txBox="1"/>
          <p:nvPr/>
        </p:nvSpPr>
        <p:spPr>
          <a:xfrm>
            <a:off x="1524000" y="49276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Canines two steps behind</a:t>
            </a:r>
          </a:p>
        </p:txBody>
      </p:sp>
      <p:sp>
        <p:nvSpPr>
          <p:cNvPr id="18" name="arrow-4"/>
          <p:cNvSpPr/>
          <p:nvPr/>
        </p:nvSpPr>
        <p:spPr>
          <a:xfrm>
            <a:off x="5207000" y="50546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use-4"/>
          <p:cNvSpPr txBox="1"/>
          <p:nvPr/>
        </p:nvSpPr>
        <p:spPr>
          <a:xfrm>
            <a:off x="5588000" y="49276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Thicker dentin — biology, not error</a:t>
            </a:r>
          </a:p>
        </p:txBody>
      </p:sp>
      <p:sp>
        <p:nvSpPr>
          <p:cNvPr id="20" name="finding-5"/>
          <p:cNvSpPr txBox="1"/>
          <p:nvPr/>
        </p:nvSpPr>
        <p:spPr>
          <a:xfrm>
            <a:off x="1524000" y="5384800"/>
            <a:ext cx="3556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5D6C73"/>
                </a:solidFill>
                <a:latin typeface="Corporate S"/>
              </a:rPr>
              <a:t>Chalky white patches</a:t>
            </a:r>
          </a:p>
        </p:txBody>
      </p:sp>
      <p:sp>
        <p:nvSpPr>
          <p:cNvPr id="21" name="arrow-5"/>
          <p:cNvSpPr/>
          <p:nvPr/>
        </p:nvSpPr>
        <p:spPr>
          <a:xfrm>
            <a:off x="5207000" y="5511800"/>
            <a:ext cx="254000" cy="152400"/>
          </a:xfrm>
          <a:prstGeom prst="rightArrow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use-5"/>
          <p:cNvSpPr txBox="1"/>
          <p:nvPr/>
        </p:nvSpPr>
        <p:spPr>
          <a:xfrm>
            <a:off x="5588000" y="5384800"/>
            <a:ext cx="3937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Transient dehydration — not damage</a:t>
            </a:r>
          </a:p>
        </p:txBody>
      </p:sp>
      <p:sp>
        <p:nvSpPr>
          <p:cNvPr id="23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6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8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30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32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Mini case · Resolve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 &amp; The Conversation</a:t>
            </a:r>
          </a:p>
        </p:txBody>
      </p:sp>
      <p:sp>
        <p:nvSpPr>
          <p:cNvPr id="5" name="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6" name="step-title-1"/>
          <p:cNvSpPr txBox="1"/>
          <p:nvPr/>
        </p:nvSpPr>
        <p:spPr>
          <a:xfrm>
            <a:off x="20066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Re-isolate, correctly</a:t>
            </a:r>
          </a:p>
        </p:txBody>
      </p:sp>
      <p:sp>
        <p:nvSpPr>
          <p:cNvPr id="7" name="step-text-1"/>
          <p:cNvSpPr txBox="1"/>
          <p:nvPr/>
        </p:nvSpPr>
        <p:spPr>
          <a:xfrm>
            <a:off x="20066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Rebuild the barrier and confirm the retractor is docked on the lamp head.</a:t>
            </a:r>
          </a:p>
        </p:txBody>
      </p:sp>
      <p:sp>
        <p:nvSpPr>
          <p:cNvPr id="8" name="step-num-2"/>
          <p:cNvSpPr/>
          <p:nvPr/>
        </p:nvSpPr>
        <p:spPr>
          <a:xfrm>
            <a:off x="55245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9" name="step-title-2"/>
          <p:cNvSpPr txBox="1"/>
          <p:nvPr/>
        </p:nvSpPr>
        <p:spPr>
          <a:xfrm>
            <a:off x="6007100" y="2133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Fresh 1 mm gel</a:t>
            </a:r>
          </a:p>
        </p:txBody>
      </p:sp>
      <p:sp>
        <p:nvSpPr>
          <p:cNvPr id="10" name="step-text-2"/>
          <p:cNvSpPr txBox="1"/>
          <p:nvPr/>
        </p:nvSpPr>
        <p:spPr>
          <a:xfrm>
            <a:off x="6007100" y="2476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Full-thickness layer on the canines and cervical thirds — the lagging zones.</a:t>
            </a:r>
          </a:p>
        </p:txBody>
      </p:sp>
      <p:sp>
        <p:nvSpPr>
          <p:cNvPr id="11" name="step-num-3"/>
          <p:cNvSpPr/>
          <p:nvPr/>
        </p:nvSpPr>
        <p:spPr>
          <a:xfrm>
            <a:off x="15240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2" name="step-title-3"/>
          <p:cNvSpPr txBox="1"/>
          <p:nvPr/>
        </p:nvSpPr>
        <p:spPr>
          <a:xfrm>
            <a:off x="20066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Spend banked minutes</a:t>
            </a:r>
          </a:p>
        </p:txBody>
      </p:sp>
      <p:sp>
        <p:nvSpPr>
          <p:cNvPr id="13" name="step-text-3"/>
          <p:cNvSpPr txBox="1"/>
          <p:nvPr/>
        </p:nvSpPr>
        <p:spPr>
          <a:xfrm>
            <a:off x="20066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The cycle time the fläshcard saved becomes a targeted touch-up.</a:t>
            </a:r>
          </a:p>
        </p:txBody>
      </p:sp>
      <p:sp>
        <p:nvSpPr>
          <p:cNvPr id="14" name="step-num-4"/>
          <p:cNvSpPr/>
          <p:nvPr/>
        </p:nvSpPr>
        <p:spPr>
          <a:xfrm>
            <a:off x="5524500" y="3873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4</a:t>
            </a:r>
          </a:p>
        </p:txBody>
      </p:sp>
      <p:sp>
        <p:nvSpPr>
          <p:cNvPr id="15" name="step-title-4"/>
          <p:cNvSpPr txBox="1"/>
          <p:nvPr/>
        </p:nvSpPr>
        <p:spPr>
          <a:xfrm>
            <a:off x="6007100" y="3911600"/>
            <a:ext cx="33274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Say the words</a:t>
            </a:r>
          </a:p>
        </p:txBody>
      </p:sp>
      <p:sp>
        <p:nvSpPr>
          <p:cNvPr id="16" name="step-text-4"/>
          <p:cNvSpPr txBox="1"/>
          <p:nvPr/>
        </p:nvSpPr>
        <p:spPr>
          <a:xfrm>
            <a:off x="6007100" y="4254500"/>
            <a:ext cx="3327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“The canines are always last. The white areas are temporary.” Book the one-week photo.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Knowledge check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7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19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1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3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Knowledge check · Answer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r>
              <a:t>Cervical thirds still yellow after cycle 3 — what is the most likely cause?</a:t>
            </a:r>
          </a:p>
        </p:txBody>
      </p:sp>
      <p:sp>
        <p:nvSpPr>
          <p:cNvPr id="5" name="quiz-opt-1"/>
          <p:cNvSpPr/>
          <p:nvPr/>
        </p:nvSpPr>
        <p:spPr>
          <a:xfrm>
            <a:off x="1524000" y="3048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iz-letter-1"/>
          <p:cNvSpPr/>
          <p:nvPr/>
        </p:nvSpPr>
        <p:spPr>
          <a:xfrm>
            <a:off x="1714500" y="3175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A</a:t>
            </a:r>
          </a:p>
        </p:txBody>
      </p:sp>
      <p:sp>
        <p:nvSpPr>
          <p:cNvPr id="7" name="quiz-text-1"/>
          <p:cNvSpPr txBox="1"/>
          <p:nvPr/>
        </p:nvSpPr>
        <p:spPr>
          <a:xfrm>
            <a:off x="2286000" y="3048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Gel layer below 1 mm</a:t>
            </a:r>
          </a:p>
        </p:txBody>
      </p:sp>
      <p:sp>
        <p:nvSpPr>
          <p:cNvPr id="8" name="quiz-opt-2"/>
          <p:cNvSpPr/>
          <p:nvPr/>
        </p:nvSpPr>
        <p:spPr>
          <a:xfrm>
            <a:off x="1524000" y="3810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00A5FF"/>
          </a:solidFill>
          <a:ln>
            <a:noFill/>
          </a:ln>
          <a:effectLst>
            <a:glow rad="317500">
              <a:srgbClr val="00A5FF">
                <a:alpha val="5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quiz-letter-2"/>
          <p:cNvSpPr/>
          <p:nvPr/>
        </p:nvSpPr>
        <p:spPr>
          <a:xfrm>
            <a:off x="1714500" y="3937000"/>
            <a:ext cx="381000" cy="38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1F272B"/>
                </a:solidFill>
                <a:latin typeface="Corporate S"/>
              </a:rPr>
              <a:t>B</a:t>
            </a:r>
          </a:p>
        </p:txBody>
      </p:sp>
      <p:sp>
        <p:nvSpPr>
          <p:cNvPr id="10" name="quiz-text-2"/>
          <p:cNvSpPr txBox="1"/>
          <p:nvPr/>
        </p:nvSpPr>
        <p:spPr>
          <a:xfrm>
            <a:off x="2286000" y="3810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1F272B"/>
                </a:solidFill>
                <a:latin typeface="Corporate S"/>
              </a:rPr>
              <a:t>Barrier over-extended onto cervical enamel</a:t>
            </a:r>
          </a:p>
        </p:txBody>
      </p:sp>
      <p:sp>
        <p:nvSpPr>
          <p:cNvPr id="11" name="quiz-opt-3"/>
          <p:cNvSpPr/>
          <p:nvPr/>
        </p:nvSpPr>
        <p:spPr>
          <a:xfrm>
            <a:off x="1524000" y="4572000"/>
            <a:ext cx="8001000" cy="635000"/>
          </a:xfrm>
          <a:prstGeom prst="roundRect">
            <a:avLst>
              <a:gd name="adj" fmla="val 18000"/>
            </a:avLst>
          </a:prstGeom>
          <a:solidFill>
            <a:srgbClr val="283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quiz-letter-3"/>
          <p:cNvSpPr/>
          <p:nvPr/>
        </p:nvSpPr>
        <p:spPr>
          <a:xfrm>
            <a:off x="1714500" y="4699000"/>
            <a:ext cx="381000" cy="381000"/>
          </a:xfrm>
          <a:prstGeom prst="ellipse">
            <a:avLst/>
          </a:prstGeom>
          <a:solidFill>
            <a:srgbClr val="283237"/>
          </a:solidFill>
          <a:ln w="19050">
            <a:solidFill>
              <a:srgbClr val="00A5FF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00A5FF"/>
                </a:solidFill>
                <a:latin typeface="Corporate S"/>
              </a:rPr>
              <a:t>C</a:t>
            </a:r>
          </a:p>
        </p:txBody>
      </p:sp>
      <p:sp>
        <p:nvSpPr>
          <p:cNvPr id="13" name="quiz-text-3"/>
          <p:cNvSpPr txBox="1"/>
          <p:nvPr/>
        </p:nvSpPr>
        <p:spPr>
          <a:xfrm>
            <a:off x="2286000" y="45720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Lamp gap or tilt</a:t>
            </a:r>
          </a:p>
        </p:txBody>
      </p:sp>
      <p:sp>
        <p:nvSpPr>
          <p:cNvPr id="14" name="quiz-expl"/>
          <p:cNvSpPr txBox="1"/>
          <p:nvPr/>
        </p:nvSpPr>
        <p:spPr>
          <a:xfrm>
            <a:off x="1524000" y="5588000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The barrier covered the cervical enamel — the gel never touched it. Re-isolate correctly, then apply fresh 1 mm gel.</a:t>
            </a:r>
          </a:p>
        </p:txBody>
      </p:sp>
      <p:sp>
        <p:nvSpPr>
          <p:cNvPr id="1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1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Summary + next action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SOP Blueprint</a:t>
            </a:r>
          </a:p>
        </p:txBody>
      </p:sp>
      <p:sp>
        <p:nvSpPr>
          <p:cNvPr id="5" name="sum-check-1"/>
          <p:cNvSpPr/>
          <p:nvPr/>
        </p:nvSpPr>
        <p:spPr>
          <a:xfrm>
            <a:off x="1524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sum-check-icon-1"/>
          <p:cNvGrpSpPr/>
          <p:nvPr/>
        </p:nvGrpSpPr>
        <p:grpSpPr>
          <a:xfrm>
            <a:off x="1605280" y="2191004"/>
            <a:ext cx="144272" cy="113792"/>
            <a:chOff x="1605280" y="2191004"/>
            <a:chExt cx="144272" cy="113792"/>
          </a:xfrm>
        </p:grpSpPr>
        <p:cxnSp>
          <p:nvCxnSpPr>
            <p:cNvPr id="7" name="Connector 6"/>
            <p:cNvCxnSpPr/>
            <p:nvPr/>
          </p:nvCxnSpPr>
          <p:spPr>
            <a:xfrm>
              <a:off x="1605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656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um-title-1"/>
          <p:cNvSpPr txBox="1"/>
          <p:nvPr/>
        </p:nvSpPr>
        <p:spPr>
          <a:xfrm>
            <a:off x="1981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Document</a:t>
            </a:r>
          </a:p>
        </p:txBody>
      </p:sp>
      <p:sp>
        <p:nvSpPr>
          <p:cNvPr id="10" name="sum-text-1"/>
          <p:cNvSpPr txBox="1"/>
          <p:nvPr/>
        </p:nvSpPr>
        <p:spPr>
          <a:xfrm>
            <a:off x="1981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Clean first, baseline shade in value order, photograph like a scientist.</a:t>
            </a:r>
          </a:p>
        </p:txBody>
      </p:sp>
      <p:sp>
        <p:nvSpPr>
          <p:cNvPr id="11" name="sum-check-2"/>
          <p:cNvSpPr/>
          <p:nvPr/>
        </p:nvSpPr>
        <p:spPr>
          <a:xfrm>
            <a:off x="1524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sum-check-icon-2"/>
          <p:cNvGrpSpPr/>
          <p:nvPr/>
        </p:nvGrpSpPr>
        <p:grpSpPr>
          <a:xfrm>
            <a:off x="1605280" y="3461004"/>
            <a:ext cx="144272" cy="113792"/>
            <a:chOff x="1605280" y="3461004"/>
            <a:chExt cx="144272" cy="113792"/>
          </a:xfrm>
        </p:grpSpPr>
        <p:cxnSp>
          <p:nvCxnSpPr>
            <p:cNvPr id="13" name="Connector 12"/>
            <p:cNvCxnSpPr/>
            <p:nvPr/>
          </p:nvCxnSpPr>
          <p:spPr>
            <a:xfrm>
              <a:off x="1605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V="1">
              <a:off x="1656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um-title-2"/>
          <p:cNvSpPr txBox="1"/>
          <p:nvPr/>
        </p:nvSpPr>
        <p:spPr>
          <a:xfrm>
            <a:off x="1981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Protect</a:t>
            </a:r>
          </a:p>
        </p:txBody>
      </p:sp>
      <p:sp>
        <p:nvSpPr>
          <p:cNvPr id="16" name="sum-text-2"/>
          <p:cNvSpPr txBox="1"/>
          <p:nvPr/>
        </p:nvSpPr>
        <p:spPr>
          <a:xfrm>
            <a:off x="1981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Vitamin E or vaseline, correct retractor, goggles, cured barrier — avoid the Seven Sins.</a:t>
            </a:r>
          </a:p>
        </p:txBody>
      </p:sp>
      <p:sp>
        <p:nvSpPr>
          <p:cNvPr id="17" name="sum-check-3"/>
          <p:cNvSpPr/>
          <p:nvPr/>
        </p:nvSpPr>
        <p:spPr>
          <a:xfrm>
            <a:off x="1524000" y="463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sum-check-icon-3"/>
          <p:cNvGrpSpPr/>
          <p:nvPr/>
        </p:nvGrpSpPr>
        <p:grpSpPr>
          <a:xfrm>
            <a:off x="1605280" y="4731004"/>
            <a:ext cx="144272" cy="113792"/>
            <a:chOff x="1605280" y="4731004"/>
            <a:chExt cx="144272" cy="113792"/>
          </a:xfrm>
        </p:grpSpPr>
        <p:cxnSp>
          <p:nvCxnSpPr>
            <p:cNvPr id="19" name="Connector 18"/>
            <p:cNvCxnSpPr/>
            <p:nvPr/>
          </p:nvCxnSpPr>
          <p:spPr>
            <a:xfrm>
              <a:off x="1605280" y="479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1656080" y="473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um-title-3"/>
          <p:cNvSpPr txBox="1"/>
          <p:nvPr/>
        </p:nvSpPr>
        <p:spPr>
          <a:xfrm>
            <a:off x="1981200" y="463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Apply</a:t>
            </a:r>
          </a:p>
        </p:txBody>
      </p:sp>
      <p:sp>
        <p:nvSpPr>
          <p:cNvPr id="22" name="sum-text-3"/>
          <p:cNvSpPr txBox="1"/>
          <p:nvPr/>
        </p:nvSpPr>
        <p:spPr>
          <a:xfrm>
            <a:off x="1981200" y="497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A minimum 1 mm of green gel, working by oxidation at neutral pH.</a:t>
            </a:r>
          </a:p>
        </p:txBody>
      </p:sp>
      <p:sp>
        <p:nvSpPr>
          <p:cNvPr id="23" name="sum-check-4"/>
          <p:cNvSpPr/>
          <p:nvPr/>
        </p:nvSpPr>
        <p:spPr>
          <a:xfrm>
            <a:off x="5588000" y="209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4" name="sum-check-icon-4"/>
          <p:cNvGrpSpPr/>
          <p:nvPr/>
        </p:nvGrpSpPr>
        <p:grpSpPr>
          <a:xfrm>
            <a:off x="5669280" y="2191004"/>
            <a:ext cx="144272" cy="113792"/>
            <a:chOff x="5669280" y="2191004"/>
            <a:chExt cx="144272" cy="113792"/>
          </a:xfrm>
        </p:grpSpPr>
        <p:cxnSp>
          <p:nvCxnSpPr>
            <p:cNvPr id="25" name="Connector 24"/>
            <p:cNvCxnSpPr/>
            <p:nvPr/>
          </p:nvCxnSpPr>
          <p:spPr>
            <a:xfrm>
              <a:off x="5669280" y="225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V="1">
              <a:off x="5720080" y="219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um-title-4"/>
          <p:cNvSpPr txBox="1"/>
          <p:nvPr/>
        </p:nvSpPr>
        <p:spPr>
          <a:xfrm>
            <a:off x="6045200" y="209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Activate &amp; monitor</a:t>
            </a:r>
          </a:p>
        </p:txBody>
      </p:sp>
      <p:sp>
        <p:nvSpPr>
          <p:cNvPr id="28" name="sum-text-4"/>
          <p:cNvSpPr txBox="1"/>
          <p:nvPr/>
        </p:nvSpPr>
        <p:spPr>
          <a:xfrm>
            <a:off x="6045200" y="243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Lamp locked on the retractor · fläshcard discipline · comfort checkpoints.</a:t>
            </a:r>
          </a:p>
        </p:txBody>
      </p:sp>
      <p:sp>
        <p:nvSpPr>
          <p:cNvPr id="29" name="sum-check-5"/>
          <p:cNvSpPr/>
          <p:nvPr/>
        </p:nvSpPr>
        <p:spPr>
          <a:xfrm>
            <a:off x="5588000" y="3365500"/>
            <a:ext cx="304800" cy="3048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0" name="sum-check-icon-5"/>
          <p:cNvGrpSpPr/>
          <p:nvPr/>
        </p:nvGrpSpPr>
        <p:grpSpPr>
          <a:xfrm>
            <a:off x="5669280" y="3461004"/>
            <a:ext cx="144272" cy="113792"/>
            <a:chOff x="5669280" y="3461004"/>
            <a:chExt cx="144272" cy="113792"/>
          </a:xfrm>
        </p:grpSpPr>
        <p:cxnSp>
          <p:nvCxnSpPr>
            <p:cNvPr id="31" name="Connector 30"/>
            <p:cNvCxnSpPr/>
            <p:nvPr/>
          </p:nvCxnSpPr>
          <p:spPr>
            <a:xfrm>
              <a:off x="5669280" y="3521964"/>
              <a:ext cx="50800" cy="5283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5720080" y="3461004"/>
              <a:ext cx="93472" cy="113792"/>
            </a:xfrm>
            <a:prstGeom prst="line">
              <a:avLst/>
            </a:prstGeom>
            <a:ln w="24384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sum-title-5"/>
          <p:cNvSpPr txBox="1"/>
          <p:nvPr/>
        </p:nvSpPr>
        <p:spPr>
          <a:xfrm>
            <a:off x="6045200" y="3365500"/>
            <a:ext cx="335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5D6C73"/>
                </a:solidFill>
                <a:latin typeface="Corporate S"/>
              </a:rPr>
              <a:t>Seal &amp; instruct</a:t>
            </a:r>
          </a:p>
        </p:txBody>
      </p:sp>
      <p:sp>
        <p:nvSpPr>
          <p:cNvPr id="34" name="sum-text-5"/>
          <p:cNvSpPr txBox="1"/>
          <p:nvPr/>
        </p:nvSpPr>
        <p:spPr>
          <a:xfrm>
            <a:off x="6045200" y="3708400"/>
            <a:ext cx="33528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orporate S"/>
              </a:rPr>
              <a:t>Mousse, the aftercare window, the departure gift — identically, every time.</a:t>
            </a:r>
          </a:p>
        </p:txBody>
      </p:sp>
      <p:sp>
        <p:nvSpPr>
          <p:cNvPr id="35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38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40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42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44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F272B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ABB7BE"/>
                </a:solidFill>
                <a:latin typeface="Corporate S"/>
              </a:rPr>
              <a:t>IN-OFFICE WHITENING WORKFLOW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Next action · This week, not this quarter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It Your Team’s Reflex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Up next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Episode 03 · Sensitivity Prevention &amp; Management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Preventing it, managing it — and turning a complaint into loyalty.</a:t>
            </a:r>
          </a:p>
        </p:txBody>
      </p:sp>
      <p:sp>
        <p:nvSpPr>
          <p:cNvPr id="8" name="next-step-num-1"/>
          <p:cNvSpPr/>
          <p:nvPr/>
        </p:nvSpPr>
        <p:spPr>
          <a:xfrm>
            <a:off x="1524000" y="2095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1</a:t>
            </a:r>
          </a:p>
        </p:txBody>
      </p:sp>
      <p:sp>
        <p:nvSpPr>
          <p:cNvPr id="9" name="next-step-title-1"/>
          <p:cNvSpPr txBox="1"/>
          <p:nvPr/>
        </p:nvSpPr>
        <p:spPr>
          <a:xfrm>
            <a:off x="2006600" y="2114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Run one full dry run</a:t>
            </a:r>
          </a:p>
        </p:txBody>
      </p:sp>
      <p:sp>
        <p:nvSpPr>
          <p:cNvPr id="10" name="next-step-text-1"/>
          <p:cNvSpPr txBox="1"/>
          <p:nvPr/>
        </p:nvSpPr>
        <p:spPr>
          <a:xfrm>
            <a:off x="2006600" y="2451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No patient in the chair — your assistant drives the fläshcard start to finish.</a:t>
            </a:r>
          </a:p>
        </p:txBody>
      </p:sp>
      <p:sp>
        <p:nvSpPr>
          <p:cNvPr id="11" name="next-step-num-2"/>
          <p:cNvSpPr/>
          <p:nvPr/>
        </p:nvSpPr>
        <p:spPr>
          <a:xfrm>
            <a:off x="1524000" y="3111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2</a:t>
            </a:r>
          </a:p>
        </p:txBody>
      </p:sp>
      <p:sp>
        <p:nvSpPr>
          <p:cNvPr id="12" name="next-step-title-2"/>
          <p:cNvSpPr txBox="1"/>
          <p:nvPr/>
        </p:nvSpPr>
        <p:spPr>
          <a:xfrm>
            <a:off x="2006600" y="3130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Appoint an SOP owner</a:t>
            </a:r>
          </a:p>
        </p:txBody>
      </p:sp>
      <p:sp>
        <p:nvSpPr>
          <p:cNvPr id="13" name="next-step-text-2"/>
          <p:cNvSpPr txBox="1"/>
          <p:nvPr/>
        </p:nvSpPr>
        <p:spPr>
          <a:xfrm>
            <a:off x="2006600" y="3467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One team member owns this protocol — and audits the clinic against it.</a:t>
            </a:r>
          </a:p>
        </p:txBody>
      </p:sp>
      <p:sp>
        <p:nvSpPr>
          <p:cNvPr id="14" name="next-step-num-3"/>
          <p:cNvSpPr/>
          <p:nvPr/>
        </p:nvSpPr>
        <p:spPr>
          <a:xfrm>
            <a:off x="1524000" y="4127500"/>
            <a:ext cx="355600" cy="355600"/>
          </a:xfrm>
          <a:prstGeom prst="ellipse">
            <a:avLst/>
          </a:prstGeom>
          <a:solidFill>
            <a:srgbClr val="00A5FF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orporate S"/>
              </a:rPr>
              <a:t>3</a:t>
            </a:r>
          </a:p>
        </p:txBody>
      </p:sp>
      <p:sp>
        <p:nvSpPr>
          <p:cNvPr id="15" name="next-step-title-3"/>
          <p:cNvSpPr txBox="1"/>
          <p:nvPr/>
        </p:nvSpPr>
        <p:spPr>
          <a:xfrm>
            <a:off x="2006600" y="414655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orporate S"/>
              </a:rPr>
              <a:t>Laminate the phases</a:t>
            </a:r>
          </a:p>
        </p:txBody>
      </p:sp>
      <p:sp>
        <p:nvSpPr>
          <p:cNvPr id="16" name="next-step-text-3"/>
          <p:cNvSpPr txBox="1"/>
          <p:nvPr/>
        </p:nvSpPr>
        <p:spPr>
          <a:xfrm>
            <a:off x="2006600" y="44831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C9D4DA"/>
                </a:solidFill>
                <a:latin typeface="Corporate S"/>
              </a:rPr>
              <a:t>Visible chairside, next to the Seven Sins of Improper Isolation.</a:t>
            </a:r>
          </a:p>
        </p:txBody>
      </p:sp>
      <p:sp>
        <p:nvSpPr>
          <p:cNvPr id="17" name="rail-line"/>
          <p:cNvSpPr/>
          <p:nvPr/>
        </p:nvSpPr>
        <p:spPr>
          <a:xfrm>
            <a:off x="425450" y="2000250"/>
            <a:ext cx="12700" cy="2641600"/>
          </a:xfrm>
          <a:prstGeom prst="rect">
            <a:avLst/>
          </a:prstGeom>
          <a:solidFill>
            <a:srgbClr val="3D4B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ail-dot-1"/>
          <p:cNvSpPr/>
          <p:nvPr/>
        </p:nvSpPr>
        <p:spPr>
          <a:xfrm>
            <a:off x="381000" y="19494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ail-num-1"/>
          <p:cNvSpPr txBox="1"/>
          <p:nvPr/>
        </p:nvSpPr>
        <p:spPr>
          <a:xfrm>
            <a:off x="635000" y="18986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1</a:t>
            </a:r>
          </a:p>
        </p:txBody>
      </p:sp>
      <p:sp>
        <p:nvSpPr>
          <p:cNvPr id="20" name="rail-dot-2"/>
          <p:cNvSpPr/>
          <p:nvPr/>
        </p:nvSpPr>
        <p:spPr>
          <a:xfrm>
            <a:off x="381000" y="26098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ail-num-2"/>
          <p:cNvSpPr txBox="1"/>
          <p:nvPr/>
        </p:nvSpPr>
        <p:spPr>
          <a:xfrm>
            <a:off x="635000" y="25590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2</a:t>
            </a:r>
          </a:p>
        </p:txBody>
      </p:sp>
      <p:sp>
        <p:nvSpPr>
          <p:cNvPr id="22" name="rail-dot-3"/>
          <p:cNvSpPr/>
          <p:nvPr/>
        </p:nvSpPr>
        <p:spPr>
          <a:xfrm>
            <a:off x="381000" y="32702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ail-num-3"/>
          <p:cNvSpPr txBox="1"/>
          <p:nvPr/>
        </p:nvSpPr>
        <p:spPr>
          <a:xfrm>
            <a:off x="635000" y="32194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3</a:t>
            </a:r>
          </a:p>
        </p:txBody>
      </p:sp>
      <p:sp>
        <p:nvSpPr>
          <p:cNvPr id="24" name="rail-dot-4"/>
          <p:cNvSpPr/>
          <p:nvPr/>
        </p:nvSpPr>
        <p:spPr>
          <a:xfrm>
            <a:off x="381000" y="39306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ail-num-4"/>
          <p:cNvSpPr txBox="1"/>
          <p:nvPr/>
        </p:nvSpPr>
        <p:spPr>
          <a:xfrm>
            <a:off x="635000" y="38798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4</a:t>
            </a:r>
          </a:p>
        </p:txBody>
      </p:sp>
      <p:sp>
        <p:nvSpPr>
          <p:cNvPr id="26" name="rail-dot-5"/>
          <p:cNvSpPr/>
          <p:nvPr/>
        </p:nvSpPr>
        <p:spPr>
          <a:xfrm>
            <a:off x="381000" y="4591050"/>
            <a:ext cx="101600" cy="101600"/>
          </a:xfrm>
          <a:prstGeom prst="ellipse">
            <a:avLst/>
          </a:prstGeom>
          <a:solidFill>
            <a:srgbClr val="192024"/>
          </a:solidFill>
          <a:ln w="19050">
            <a:solidFill>
              <a:srgbClr val="56666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ail-num-5"/>
          <p:cNvSpPr txBox="1"/>
          <p:nvPr/>
        </p:nvSpPr>
        <p:spPr>
          <a:xfrm>
            <a:off x="635000" y="4540250"/>
            <a:ext cx="25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56666E"/>
                </a:solidFill>
                <a:latin typeface="Corporate S"/>
              </a:rPr>
              <a:t>5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1524000" y="64135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cap="all" spc="176">
                <a:solidFill>
                  <a:srgbClr val="8597A0"/>
                </a:solidFill>
                <a:latin typeface="Corporate S"/>
              </a:rPr>
              <a:t>IN-OFFICE WHITENING WORKFLOW ·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äsh Campus">
  <a:themeElements>
    <a:clrScheme name="fläsh Campus">
      <a:dk1>
        <a:srgbClr val="333333"/>
      </a:dk1>
      <a:lt1>
        <a:srgbClr val="FFFFFF"/>
      </a:lt1>
      <a:dk2>
        <a:srgbClr val="1F272B"/>
      </a:dk2>
      <a:lt2>
        <a:srgbClr val="DEE7EC"/>
      </a:lt2>
      <a:accent1>
        <a:srgbClr val="00A5FF"/>
      </a:accent1>
      <a:accent2>
        <a:srgbClr val="5D6C73"/>
      </a:accent2>
      <a:accent3>
        <a:srgbClr val="ABB7BE"/>
      </a:accent3>
      <a:accent4>
        <a:srgbClr val="283237"/>
      </a:accent4>
      <a:accent5>
        <a:srgbClr val="7D8B91"/>
      </a:accent5>
      <a:accent6>
        <a:srgbClr val="C9D4DA"/>
      </a:accent6>
      <a:hlink>
        <a:srgbClr val="00A5FF"/>
      </a:hlink>
      <a:folHlink>
        <a:srgbClr val="5D6C73"/>
      </a:folHlink>
    </a:clrScheme>
    <a:fontScheme name="fläsh Campus">
      <a:maj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porate 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